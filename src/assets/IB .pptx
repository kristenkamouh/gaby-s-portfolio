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</p:sldIdLst>
  <p:sldSz cx="12192000" cy="6858000"/>
  <p:notesSz cx="6858000" cy="9144000"/>
  <p:defaultTextStyle>
    <a:defPPr>
      <a:defRPr lang="en-L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8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93303C-B00C-4952-A11D-912BBD93C60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1C5778F-6ED8-4392-AEE0-7E2B59C0A6C2}">
      <dgm:prSet/>
      <dgm:spPr/>
      <dgm:t>
        <a:bodyPr/>
        <a:lstStyle/>
        <a:p>
          <a:r>
            <a:rPr lang="en-US" i="0"/>
            <a:t>International trade promotes access to larger markets and economic growth.</a:t>
          </a:r>
          <a:endParaRPr lang="en-US"/>
        </a:p>
      </dgm:t>
    </dgm:pt>
    <dgm:pt modelId="{F9EEB8B1-3D80-482C-80AD-3EE96A52392D}" type="parTrans" cxnId="{AAB33CB0-4D80-40D5-84C6-D633A928BAFF}">
      <dgm:prSet/>
      <dgm:spPr/>
      <dgm:t>
        <a:bodyPr/>
        <a:lstStyle/>
        <a:p>
          <a:endParaRPr lang="en-US"/>
        </a:p>
      </dgm:t>
    </dgm:pt>
    <dgm:pt modelId="{AE07457D-204A-4388-A332-D9A6699B2D2C}" type="sibTrans" cxnId="{AAB33CB0-4D80-40D5-84C6-D633A928BAFF}">
      <dgm:prSet/>
      <dgm:spPr/>
      <dgm:t>
        <a:bodyPr/>
        <a:lstStyle/>
        <a:p>
          <a:endParaRPr lang="en-US"/>
        </a:p>
      </dgm:t>
    </dgm:pt>
    <dgm:pt modelId="{E815D882-A01B-4689-8E34-93DBBBA1C65E}">
      <dgm:prSet/>
      <dgm:spPr/>
      <dgm:t>
        <a:bodyPr/>
        <a:lstStyle/>
        <a:p>
          <a:r>
            <a:rPr lang="en-US" i="0"/>
            <a:t>Supports specialization, innovation, and competition.</a:t>
          </a:r>
          <a:endParaRPr lang="en-US"/>
        </a:p>
      </dgm:t>
    </dgm:pt>
    <dgm:pt modelId="{34779470-1FBA-4EB0-8C49-A9A87D8516F6}" type="parTrans" cxnId="{56F53E68-592D-43E1-97F1-4A13D2DD6420}">
      <dgm:prSet/>
      <dgm:spPr/>
      <dgm:t>
        <a:bodyPr/>
        <a:lstStyle/>
        <a:p>
          <a:endParaRPr lang="en-US"/>
        </a:p>
      </dgm:t>
    </dgm:pt>
    <dgm:pt modelId="{8C0F7358-375C-4524-BFAA-09E5FFEC081B}" type="sibTrans" cxnId="{56F53E68-592D-43E1-97F1-4A13D2DD6420}">
      <dgm:prSet/>
      <dgm:spPr/>
      <dgm:t>
        <a:bodyPr/>
        <a:lstStyle/>
        <a:p>
          <a:endParaRPr lang="en-US"/>
        </a:p>
      </dgm:t>
    </dgm:pt>
    <dgm:pt modelId="{70387C8C-C5C5-4617-B3DA-653DCC934A25}">
      <dgm:prSet/>
      <dgm:spPr/>
      <dgm:t>
        <a:bodyPr/>
        <a:lstStyle/>
        <a:p>
          <a:r>
            <a:rPr lang="en-US" i="0"/>
            <a:t>Enhances infrastructure and technology transfer, especially in developing nations.</a:t>
          </a:r>
          <a:endParaRPr lang="en-US"/>
        </a:p>
      </dgm:t>
    </dgm:pt>
    <dgm:pt modelId="{74A1ED96-7985-4BBC-B490-9D8C660DDF23}" type="parTrans" cxnId="{9F8FD69B-A710-4E82-A416-F7C2AEC6326D}">
      <dgm:prSet/>
      <dgm:spPr/>
      <dgm:t>
        <a:bodyPr/>
        <a:lstStyle/>
        <a:p>
          <a:endParaRPr lang="en-US"/>
        </a:p>
      </dgm:t>
    </dgm:pt>
    <dgm:pt modelId="{68B1341C-4CD7-4222-902E-AFF73D1101E2}" type="sibTrans" cxnId="{9F8FD69B-A710-4E82-A416-F7C2AEC6326D}">
      <dgm:prSet/>
      <dgm:spPr/>
      <dgm:t>
        <a:bodyPr/>
        <a:lstStyle/>
        <a:p>
          <a:endParaRPr lang="en-US"/>
        </a:p>
      </dgm:t>
    </dgm:pt>
    <dgm:pt modelId="{E84019A3-47CA-454D-9925-C4BFE960F164}" type="pres">
      <dgm:prSet presAssocID="{5A93303C-B00C-4952-A11D-912BBD93C606}" presName="linear" presStyleCnt="0">
        <dgm:presLayoutVars>
          <dgm:animLvl val="lvl"/>
          <dgm:resizeHandles val="exact"/>
        </dgm:presLayoutVars>
      </dgm:prSet>
      <dgm:spPr/>
    </dgm:pt>
    <dgm:pt modelId="{816B366E-F663-0544-98F0-BA33F18136B7}" type="pres">
      <dgm:prSet presAssocID="{E1C5778F-6ED8-4392-AEE0-7E2B59C0A6C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1ACE035-95FF-7B41-94D1-49BB2F75BE10}" type="pres">
      <dgm:prSet presAssocID="{AE07457D-204A-4388-A332-D9A6699B2D2C}" presName="spacer" presStyleCnt="0"/>
      <dgm:spPr/>
    </dgm:pt>
    <dgm:pt modelId="{98D78CA2-302D-3E4A-A3A4-53FDCDD34FB0}" type="pres">
      <dgm:prSet presAssocID="{E815D882-A01B-4689-8E34-93DBBBA1C65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5637AC3-EB48-EA4B-B9D5-9365AFD6F469}" type="pres">
      <dgm:prSet presAssocID="{8C0F7358-375C-4524-BFAA-09E5FFEC081B}" presName="spacer" presStyleCnt="0"/>
      <dgm:spPr/>
    </dgm:pt>
    <dgm:pt modelId="{2F1C6AC2-3926-F747-AEFB-14F48508321B}" type="pres">
      <dgm:prSet presAssocID="{70387C8C-C5C5-4617-B3DA-653DCC934A2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1F6CC04-35AD-2349-9AE9-F60898FDE281}" type="presOf" srcId="{70387C8C-C5C5-4617-B3DA-653DCC934A25}" destId="{2F1C6AC2-3926-F747-AEFB-14F48508321B}" srcOrd="0" destOrd="0" presId="urn:microsoft.com/office/officeart/2005/8/layout/vList2"/>
    <dgm:cxn modelId="{A798FF08-8171-E746-85AE-49F36C7600B9}" type="presOf" srcId="{E815D882-A01B-4689-8E34-93DBBBA1C65E}" destId="{98D78CA2-302D-3E4A-A3A4-53FDCDD34FB0}" srcOrd="0" destOrd="0" presId="urn:microsoft.com/office/officeart/2005/8/layout/vList2"/>
    <dgm:cxn modelId="{56F53E68-592D-43E1-97F1-4A13D2DD6420}" srcId="{5A93303C-B00C-4952-A11D-912BBD93C606}" destId="{E815D882-A01B-4689-8E34-93DBBBA1C65E}" srcOrd="1" destOrd="0" parTransId="{34779470-1FBA-4EB0-8C49-A9A87D8516F6}" sibTransId="{8C0F7358-375C-4524-BFAA-09E5FFEC081B}"/>
    <dgm:cxn modelId="{DE1DD77D-FA19-C64A-8857-49CC671F40F2}" type="presOf" srcId="{E1C5778F-6ED8-4392-AEE0-7E2B59C0A6C2}" destId="{816B366E-F663-0544-98F0-BA33F18136B7}" srcOrd="0" destOrd="0" presId="urn:microsoft.com/office/officeart/2005/8/layout/vList2"/>
    <dgm:cxn modelId="{9F8FD69B-A710-4E82-A416-F7C2AEC6326D}" srcId="{5A93303C-B00C-4952-A11D-912BBD93C606}" destId="{70387C8C-C5C5-4617-B3DA-653DCC934A25}" srcOrd="2" destOrd="0" parTransId="{74A1ED96-7985-4BBC-B490-9D8C660DDF23}" sibTransId="{68B1341C-4CD7-4222-902E-AFF73D1101E2}"/>
    <dgm:cxn modelId="{AAB33CB0-4D80-40D5-84C6-D633A928BAFF}" srcId="{5A93303C-B00C-4952-A11D-912BBD93C606}" destId="{E1C5778F-6ED8-4392-AEE0-7E2B59C0A6C2}" srcOrd="0" destOrd="0" parTransId="{F9EEB8B1-3D80-482C-80AD-3EE96A52392D}" sibTransId="{AE07457D-204A-4388-A332-D9A6699B2D2C}"/>
    <dgm:cxn modelId="{5DEEAEF8-A96A-2A4A-B499-0E2264BBDF2C}" type="presOf" srcId="{5A93303C-B00C-4952-A11D-912BBD93C606}" destId="{E84019A3-47CA-454D-9925-C4BFE960F164}" srcOrd="0" destOrd="0" presId="urn:microsoft.com/office/officeart/2005/8/layout/vList2"/>
    <dgm:cxn modelId="{F369862E-D0AB-544F-83E2-5C9FB0E0AD84}" type="presParOf" srcId="{E84019A3-47CA-454D-9925-C4BFE960F164}" destId="{816B366E-F663-0544-98F0-BA33F18136B7}" srcOrd="0" destOrd="0" presId="urn:microsoft.com/office/officeart/2005/8/layout/vList2"/>
    <dgm:cxn modelId="{AC39003E-0465-B644-A115-A7A1E306FE04}" type="presParOf" srcId="{E84019A3-47CA-454D-9925-C4BFE960F164}" destId="{61ACE035-95FF-7B41-94D1-49BB2F75BE10}" srcOrd="1" destOrd="0" presId="urn:microsoft.com/office/officeart/2005/8/layout/vList2"/>
    <dgm:cxn modelId="{A5860850-CB4A-6D4E-8535-8E6B1DD3C291}" type="presParOf" srcId="{E84019A3-47CA-454D-9925-C4BFE960F164}" destId="{98D78CA2-302D-3E4A-A3A4-53FDCDD34FB0}" srcOrd="2" destOrd="0" presId="urn:microsoft.com/office/officeart/2005/8/layout/vList2"/>
    <dgm:cxn modelId="{A016B3FB-7F7F-3C48-B8E9-048A469953F6}" type="presParOf" srcId="{E84019A3-47CA-454D-9925-C4BFE960F164}" destId="{A5637AC3-EB48-EA4B-B9D5-9365AFD6F469}" srcOrd="3" destOrd="0" presId="urn:microsoft.com/office/officeart/2005/8/layout/vList2"/>
    <dgm:cxn modelId="{BFEC70F6-22F9-9544-A748-648F0A7C76F8}" type="presParOf" srcId="{E84019A3-47CA-454D-9925-C4BFE960F164}" destId="{2F1C6AC2-3926-F747-AEFB-14F48508321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A51ECC-296B-45DB-8E9F-1DBCA054B877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DBBC890-6A8E-41D0-BDD6-50BCBAC60023}">
      <dgm:prSet/>
      <dgm:spPr/>
      <dgm:t>
        <a:bodyPr/>
        <a:lstStyle/>
        <a:p>
          <a:pPr>
            <a:defRPr cap="all"/>
          </a:pPr>
          <a:r>
            <a:rPr lang="en-US"/>
            <a:t>Imbalances highlight deeper economic issues.</a:t>
          </a:r>
        </a:p>
      </dgm:t>
    </dgm:pt>
    <dgm:pt modelId="{EFAC02AB-34AD-4855-B72E-464792B66046}" type="parTrans" cxnId="{1605CC54-6B79-494B-8CC2-F901B0A255C5}">
      <dgm:prSet/>
      <dgm:spPr/>
      <dgm:t>
        <a:bodyPr/>
        <a:lstStyle/>
        <a:p>
          <a:endParaRPr lang="en-US"/>
        </a:p>
      </dgm:t>
    </dgm:pt>
    <dgm:pt modelId="{E154E9C9-6791-4BB4-A043-7F2CE50D08D2}" type="sibTrans" cxnId="{1605CC54-6B79-494B-8CC2-F901B0A255C5}">
      <dgm:prSet/>
      <dgm:spPr/>
      <dgm:t>
        <a:bodyPr/>
        <a:lstStyle/>
        <a:p>
          <a:endParaRPr lang="en-US"/>
        </a:p>
      </dgm:t>
    </dgm:pt>
    <dgm:pt modelId="{42CA319E-A0A6-4948-8BC7-4E700373D446}">
      <dgm:prSet/>
      <dgm:spPr/>
      <dgm:t>
        <a:bodyPr/>
        <a:lstStyle/>
        <a:p>
          <a:pPr>
            <a:defRPr cap="all"/>
          </a:pPr>
          <a:r>
            <a:rPr lang="en-US"/>
            <a:t>Affect jobs, competitiveness, and global stability.</a:t>
          </a:r>
        </a:p>
      </dgm:t>
    </dgm:pt>
    <dgm:pt modelId="{A5CB3B57-EEC6-471A-8A9B-AD3DD564F885}" type="parTrans" cxnId="{2852E333-46BC-4287-ACA5-A31B085B5837}">
      <dgm:prSet/>
      <dgm:spPr/>
      <dgm:t>
        <a:bodyPr/>
        <a:lstStyle/>
        <a:p>
          <a:endParaRPr lang="en-US"/>
        </a:p>
      </dgm:t>
    </dgm:pt>
    <dgm:pt modelId="{2AFED4D7-34B6-4630-8AED-2D413C22B443}" type="sibTrans" cxnId="{2852E333-46BC-4287-ACA5-A31B085B5837}">
      <dgm:prSet/>
      <dgm:spPr/>
      <dgm:t>
        <a:bodyPr/>
        <a:lstStyle/>
        <a:p>
          <a:endParaRPr lang="en-US"/>
        </a:p>
      </dgm:t>
    </dgm:pt>
    <dgm:pt modelId="{262496DE-84B8-4AE8-89B4-47CDF496AAA6}">
      <dgm:prSet/>
      <dgm:spPr/>
      <dgm:t>
        <a:bodyPr/>
        <a:lstStyle/>
        <a:p>
          <a:pPr>
            <a:defRPr cap="all"/>
          </a:pPr>
          <a:r>
            <a:rPr lang="en-US"/>
            <a:t>Essential for crafting effective trade and fiscal policies.</a:t>
          </a:r>
        </a:p>
      </dgm:t>
    </dgm:pt>
    <dgm:pt modelId="{45F0CF25-3EFF-46B1-80E2-9AA4BA139817}" type="parTrans" cxnId="{7B72D4D9-0DDE-4229-93C6-81AA1FE8B8D2}">
      <dgm:prSet/>
      <dgm:spPr/>
      <dgm:t>
        <a:bodyPr/>
        <a:lstStyle/>
        <a:p>
          <a:endParaRPr lang="en-US"/>
        </a:p>
      </dgm:t>
    </dgm:pt>
    <dgm:pt modelId="{23CE06EB-C3D7-4AC1-82CB-2F3DC0C28416}" type="sibTrans" cxnId="{7B72D4D9-0DDE-4229-93C6-81AA1FE8B8D2}">
      <dgm:prSet/>
      <dgm:spPr/>
      <dgm:t>
        <a:bodyPr/>
        <a:lstStyle/>
        <a:p>
          <a:endParaRPr lang="en-US"/>
        </a:p>
      </dgm:t>
    </dgm:pt>
    <dgm:pt modelId="{BABEC5A4-5283-42D1-A451-2446C8D0E635}" type="pres">
      <dgm:prSet presAssocID="{FDA51ECC-296B-45DB-8E9F-1DBCA054B877}" presName="root" presStyleCnt="0">
        <dgm:presLayoutVars>
          <dgm:dir/>
          <dgm:resizeHandles val="exact"/>
        </dgm:presLayoutVars>
      </dgm:prSet>
      <dgm:spPr/>
    </dgm:pt>
    <dgm:pt modelId="{C8088B74-6883-4AC9-AE46-EA8653DDA796}" type="pres">
      <dgm:prSet presAssocID="{FDBBC890-6A8E-41D0-BDD6-50BCBAC60023}" presName="compNode" presStyleCnt="0"/>
      <dgm:spPr/>
    </dgm:pt>
    <dgm:pt modelId="{42A96AA5-BC61-4939-BE5D-1A4FE7E76ACE}" type="pres">
      <dgm:prSet presAssocID="{FDBBC890-6A8E-41D0-BDD6-50BCBAC60023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5BEDC517-3BE5-4BF9-8C5E-EDDC598C26A5}" type="pres">
      <dgm:prSet presAssocID="{FDBBC890-6A8E-41D0-BDD6-50BCBAC6002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F4A8DCA4-B6B5-4B25-B301-368427C03E53}" type="pres">
      <dgm:prSet presAssocID="{FDBBC890-6A8E-41D0-BDD6-50BCBAC60023}" presName="spaceRect" presStyleCnt="0"/>
      <dgm:spPr/>
    </dgm:pt>
    <dgm:pt modelId="{5A6FACF7-F8C4-46E8-97BB-9E2E5A9E752A}" type="pres">
      <dgm:prSet presAssocID="{FDBBC890-6A8E-41D0-BDD6-50BCBAC60023}" presName="textRect" presStyleLbl="revTx" presStyleIdx="0" presStyleCnt="3">
        <dgm:presLayoutVars>
          <dgm:chMax val="1"/>
          <dgm:chPref val="1"/>
        </dgm:presLayoutVars>
      </dgm:prSet>
      <dgm:spPr/>
    </dgm:pt>
    <dgm:pt modelId="{6991AD40-FC8D-4566-A1B3-80424D9B89C5}" type="pres">
      <dgm:prSet presAssocID="{E154E9C9-6791-4BB4-A043-7F2CE50D08D2}" presName="sibTrans" presStyleCnt="0"/>
      <dgm:spPr/>
    </dgm:pt>
    <dgm:pt modelId="{70246775-2A76-4B3B-B2CB-8C77F5649512}" type="pres">
      <dgm:prSet presAssocID="{42CA319E-A0A6-4948-8BC7-4E700373D446}" presName="compNode" presStyleCnt="0"/>
      <dgm:spPr/>
    </dgm:pt>
    <dgm:pt modelId="{B41235B0-BF0F-4A5B-A4C0-03DBC76514A0}" type="pres">
      <dgm:prSet presAssocID="{42CA319E-A0A6-4948-8BC7-4E700373D446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3F2ECD7F-93EE-4A86-996F-FBC95206055A}" type="pres">
      <dgm:prSet presAssocID="{42CA319E-A0A6-4948-8BC7-4E700373D44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F9B3DDD3-416B-4B58-BDD6-9447A01506C0}" type="pres">
      <dgm:prSet presAssocID="{42CA319E-A0A6-4948-8BC7-4E700373D446}" presName="spaceRect" presStyleCnt="0"/>
      <dgm:spPr/>
    </dgm:pt>
    <dgm:pt modelId="{CF80FB54-D9EB-4D32-9A2C-17E0CAB9E292}" type="pres">
      <dgm:prSet presAssocID="{42CA319E-A0A6-4948-8BC7-4E700373D446}" presName="textRect" presStyleLbl="revTx" presStyleIdx="1" presStyleCnt="3">
        <dgm:presLayoutVars>
          <dgm:chMax val="1"/>
          <dgm:chPref val="1"/>
        </dgm:presLayoutVars>
      </dgm:prSet>
      <dgm:spPr/>
    </dgm:pt>
    <dgm:pt modelId="{F7E409DF-5791-4442-ACAA-E23411751AEB}" type="pres">
      <dgm:prSet presAssocID="{2AFED4D7-34B6-4630-8AED-2D413C22B443}" presName="sibTrans" presStyleCnt="0"/>
      <dgm:spPr/>
    </dgm:pt>
    <dgm:pt modelId="{7227CFF8-5C36-4B9D-A214-08E104E5CDD0}" type="pres">
      <dgm:prSet presAssocID="{262496DE-84B8-4AE8-89B4-47CDF496AAA6}" presName="compNode" presStyleCnt="0"/>
      <dgm:spPr/>
    </dgm:pt>
    <dgm:pt modelId="{51F15DBC-0ACE-482A-8544-9CEA21A49D36}" type="pres">
      <dgm:prSet presAssocID="{262496DE-84B8-4AE8-89B4-47CDF496AAA6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3E9611F5-A0EC-42B4-8995-94533C3088AC}" type="pres">
      <dgm:prSet presAssocID="{262496DE-84B8-4AE8-89B4-47CDF496AAA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83EDDEEB-401F-4F91-B6A2-8705C68CBEC5}" type="pres">
      <dgm:prSet presAssocID="{262496DE-84B8-4AE8-89B4-47CDF496AAA6}" presName="spaceRect" presStyleCnt="0"/>
      <dgm:spPr/>
    </dgm:pt>
    <dgm:pt modelId="{57A49B7A-04D8-4FAF-8B5E-C57493EF37F1}" type="pres">
      <dgm:prSet presAssocID="{262496DE-84B8-4AE8-89B4-47CDF496AAA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852E333-46BC-4287-ACA5-A31B085B5837}" srcId="{FDA51ECC-296B-45DB-8E9F-1DBCA054B877}" destId="{42CA319E-A0A6-4948-8BC7-4E700373D446}" srcOrd="1" destOrd="0" parTransId="{A5CB3B57-EEC6-471A-8A9B-AD3DD564F885}" sibTransId="{2AFED4D7-34B6-4630-8AED-2D413C22B443}"/>
    <dgm:cxn modelId="{BF0D3B51-5C30-4C48-A35B-D63251627078}" type="presOf" srcId="{FDA51ECC-296B-45DB-8E9F-1DBCA054B877}" destId="{BABEC5A4-5283-42D1-A451-2446C8D0E635}" srcOrd="0" destOrd="0" presId="urn:microsoft.com/office/officeart/2018/5/layout/IconLeafLabelList"/>
    <dgm:cxn modelId="{1605CC54-6B79-494B-8CC2-F901B0A255C5}" srcId="{FDA51ECC-296B-45DB-8E9F-1DBCA054B877}" destId="{FDBBC890-6A8E-41D0-BDD6-50BCBAC60023}" srcOrd="0" destOrd="0" parTransId="{EFAC02AB-34AD-4855-B72E-464792B66046}" sibTransId="{E154E9C9-6791-4BB4-A043-7F2CE50D08D2}"/>
    <dgm:cxn modelId="{7B72D4D9-0DDE-4229-93C6-81AA1FE8B8D2}" srcId="{FDA51ECC-296B-45DB-8E9F-1DBCA054B877}" destId="{262496DE-84B8-4AE8-89B4-47CDF496AAA6}" srcOrd="2" destOrd="0" parTransId="{45F0CF25-3EFF-46B1-80E2-9AA4BA139817}" sibTransId="{23CE06EB-C3D7-4AC1-82CB-2F3DC0C28416}"/>
    <dgm:cxn modelId="{609C52EC-FCF9-4202-84E4-47B8B9F6A487}" type="presOf" srcId="{262496DE-84B8-4AE8-89B4-47CDF496AAA6}" destId="{57A49B7A-04D8-4FAF-8B5E-C57493EF37F1}" srcOrd="0" destOrd="0" presId="urn:microsoft.com/office/officeart/2018/5/layout/IconLeafLabelList"/>
    <dgm:cxn modelId="{2138BDEE-BBA1-4944-92D5-F8C96B55A157}" type="presOf" srcId="{FDBBC890-6A8E-41D0-BDD6-50BCBAC60023}" destId="{5A6FACF7-F8C4-46E8-97BB-9E2E5A9E752A}" srcOrd="0" destOrd="0" presId="urn:microsoft.com/office/officeart/2018/5/layout/IconLeafLabelList"/>
    <dgm:cxn modelId="{A7A90EFE-B892-43FD-A46D-40BCD5E88980}" type="presOf" srcId="{42CA319E-A0A6-4948-8BC7-4E700373D446}" destId="{CF80FB54-D9EB-4D32-9A2C-17E0CAB9E292}" srcOrd="0" destOrd="0" presId="urn:microsoft.com/office/officeart/2018/5/layout/IconLeafLabelList"/>
    <dgm:cxn modelId="{A1754D59-3BC1-4485-8F88-8B59D2A7C4B2}" type="presParOf" srcId="{BABEC5A4-5283-42D1-A451-2446C8D0E635}" destId="{C8088B74-6883-4AC9-AE46-EA8653DDA796}" srcOrd="0" destOrd="0" presId="urn:microsoft.com/office/officeart/2018/5/layout/IconLeafLabelList"/>
    <dgm:cxn modelId="{73F8FCE4-A6E2-4827-A841-F4762BD71776}" type="presParOf" srcId="{C8088B74-6883-4AC9-AE46-EA8653DDA796}" destId="{42A96AA5-BC61-4939-BE5D-1A4FE7E76ACE}" srcOrd="0" destOrd="0" presId="urn:microsoft.com/office/officeart/2018/5/layout/IconLeafLabelList"/>
    <dgm:cxn modelId="{DF94FBCE-8091-4F14-BD68-60266C6B5885}" type="presParOf" srcId="{C8088B74-6883-4AC9-AE46-EA8653DDA796}" destId="{5BEDC517-3BE5-4BF9-8C5E-EDDC598C26A5}" srcOrd="1" destOrd="0" presId="urn:microsoft.com/office/officeart/2018/5/layout/IconLeafLabelList"/>
    <dgm:cxn modelId="{29EA7080-0990-463F-8240-B881BCA151D5}" type="presParOf" srcId="{C8088B74-6883-4AC9-AE46-EA8653DDA796}" destId="{F4A8DCA4-B6B5-4B25-B301-368427C03E53}" srcOrd="2" destOrd="0" presId="urn:microsoft.com/office/officeart/2018/5/layout/IconLeafLabelList"/>
    <dgm:cxn modelId="{7524C16D-F069-48ED-9C38-0A63050927F0}" type="presParOf" srcId="{C8088B74-6883-4AC9-AE46-EA8653DDA796}" destId="{5A6FACF7-F8C4-46E8-97BB-9E2E5A9E752A}" srcOrd="3" destOrd="0" presId="urn:microsoft.com/office/officeart/2018/5/layout/IconLeafLabelList"/>
    <dgm:cxn modelId="{39D46E59-1BEA-4EA9-9217-3F143403EFE4}" type="presParOf" srcId="{BABEC5A4-5283-42D1-A451-2446C8D0E635}" destId="{6991AD40-FC8D-4566-A1B3-80424D9B89C5}" srcOrd="1" destOrd="0" presId="urn:microsoft.com/office/officeart/2018/5/layout/IconLeafLabelList"/>
    <dgm:cxn modelId="{5A8D3070-05E6-4286-B216-381A2B6A3303}" type="presParOf" srcId="{BABEC5A4-5283-42D1-A451-2446C8D0E635}" destId="{70246775-2A76-4B3B-B2CB-8C77F5649512}" srcOrd="2" destOrd="0" presId="urn:microsoft.com/office/officeart/2018/5/layout/IconLeafLabelList"/>
    <dgm:cxn modelId="{F68EDCFC-2EE0-4700-B98D-6D3BC1B0B981}" type="presParOf" srcId="{70246775-2A76-4B3B-B2CB-8C77F5649512}" destId="{B41235B0-BF0F-4A5B-A4C0-03DBC76514A0}" srcOrd="0" destOrd="0" presId="urn:microsoft.com/office/officeart/2018/5/layout/IconLeafLabelList"/>
    <dgm:cxn modelId="{938EDFB5-1B70-42A0-9327-144FF936EBC6}" type="presParOf" srcId="{70246775-2A76-4B3B-B2CB-8C77F5649512}" destId="{3F2ECD7F-93EE-4A86-996F-FBC95206055A}" srcOrd="1" destOrd="0" presId="urn:microsoft.com/office/officeart/2018/5/layout/IconLeafLabelList"/>
    <dgm:cxn modelId="{6737DF2F-592D-4EE3-A1DF-14E62174E69E}" type="presParOf" srcId="{70246775-2A76-4B3B-B2CB-8C77F5649512}" destId="{F9B3DDD3-416B-4B58-BDD6-9447A01506C0}" srcOrd="2" destOrd="0" presId="urn:microsoft.com/office/officeart/2018/5/layout/IconLeafLabelList"/>
    <dgm:cxn modelId="{1459A7D4-BD26-4768-BF47-F8D072406CA4}" type="presParOf" srcId="{70246775-2A76-4B3B-B2CB-8C77F5649512}" destId="{CF80FB54-D9EB-4D32-9A2C-17E0CAB9E292}" srcOrd="3" destOrd="0" presId="urn:microsoft.com/office/officeart/2018/5/layout/IconLeafLabelList"/>
    <dgm:cxn modelId="{39CEC719-A76D-452D-A309-89E694ECCECF}" type="presParOf" srcId="{BABEC5A4-5283-42D1-A451-2446C8D0E635}" destId="{F7E409DF-5791-4442-ACAA-E23411751AEB}" srcOrd="3" destOrd="0" presId="urn:microsoft.com/office/officeart/2018/5/layout/IconLeafLabelList"/>
    <dgm:cxn modelId="{A85412F6-1C80-4E13-8E13-630CCEC46F2C}" type="presParOf" srcId="{BABEC5A4-5283-42D1-A451-2446C8D0E635}" destId="{7227CFF8-5C36-4B9D-A214-08E104E5CDD0}" srcOrd="4" destOrd="0" presId="urn:microsoft.com/office/officeart/2018/5/layout/IconLeafLabelList"/>
    <dgm:cxn modelId="{FBF4C979-7177-46C0-A14E-E09FA2584961}" type="presParOf" srcId="{7227CFF8-5C36-4B9D-A214-08E104E5CDD0}" destId="{51F15DBC-0ACE-482A-8544-9CEA21A49D36}" srcOrd="0" destOrd="0" presId="urn:microsoft.com/office/officeart/2018/5/layout/IconLeafLabelList"/>
    <dgm:cxn modelId="{50D9E633-6C00-443B-A027-32A94DFAC6CF}" type="presParOf" srcId="{7227CFF8-5C36-4B9D-A214-08E104E5CDD0}" destId="{3E9611F5-A0EC-42B4-8995-94533C3088AC}" srcOrd="1" destOrd="0" presId="urn:microsoft.com/office/officeart/2018/5/layout/IconLeafLabelList"/>
    <dgm:cxn modelId="{48015FB8-DF89-4946-8B5D-F9C30203EE7F}" type="presParOf" srcId="{7227CFF8-5C36-4B9D-A214-08E104E5CDD0}" destId="{83EDDEEB-401F-4F91-B6A2-8705C68CBEC5}" srcOrd="2" destOrd="0" presId="urn:microsoft.com/office/officeart/2018/5/layout/IconLeafLabelList"/>
    <dgm:cxn modelId="{4AA4FC61-8A3E-4F90-BD16-166B8EA466AB}" type="presParOf" srcId="{7227CFF8-5C36-4B9D-A214-08E104E5CDD0}" destId="{57A49B7A-04D8-4FAF-8B5E-C57493EF37F1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D35F862-F5AB-4FC0-B7B9-EF1BC274F82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78EAABF-F0F3-4888-AB6A-49A2C510305F}">
      <dgm:prSet/>
      <dgm:spPr/>
      <dgm:t>
        <a:bodyPr/>
        <a:lstStyle/>
        <a:p>
          <a:r>
            <a:rPr lang="en-US"/>
            <a:t>Analyze causes and effects of trade imbalances.</a:t>
          </a:r>
        </a:p>
      </dgm:t>
    </dgm:pt>
    <dgm:pt modelId="{32AA6364-533F-4302-9856-FC052C90BBD6}" type="parTrans" cxnId="{816C52EC-55F5-4EBA-A2A3-993516646F29}">
      <dgm:prSet/>
      <dgm:spPr/>
      <dgm:t>
        <a:bodyPr/>
        <a:lstStyle/>
        <a:p>
          <a:endParaRPr lang="en-US"/>
        </a:p>
      </dgm:t>
    </dgm:pt>
    <dgm:pt modelId="{5E48CE79-6999-4D10-8D3C-44E7A88AC2E6}" type="sibTrans" cxnId="{816C52EC-55F5-4EBA-A2A3-993516646F29}">
      <dgm:prSet/>
      <dgm:spPr/>
      <dgm:t>
        <a:bodyPr/>
        <a:lstStyle/>
        <a:p>
          <a:endParaRPr lang="en-US"/>
        </a:p>
      </dgm:t>
    </dgm:pt>
    <dgm:pt modelId="{FDAD4C2F-5A1C-4ED1-A5C9-4D6CB479ADB7}">
      <dgm:prSet/>
      <dgm:spPr/>
      <dgm:t>
        <a:bodyPr/>
        <a:lstStyle/>
        <a:p>
          <a:r>
            <a:rPr lang="en-US"/>
            <a:t>Examine U.S.–China trade relations and conflicts.</a:t>
          </a:r>
        </a:p>
      </dgm:t>
    </dgm:pt>
    <dgm:pt modelId="{11FC4514-55A0-4C74-A6B4-9EA3E87EFD44}" type="parTrans" cxnId="{06515460-C734-432F-8A94-F5F3408FD0E3}">
      <dgm:prSet/>
      <dgm:spPr/>
      <dgm:t>
        <a:bodyPr/>
        <a:lstStyle/>
        <a:p>
          <a:endParaRPr lang="en-US"/>
        </a:p>
      </dgm:t>
    </dgm:pt>
    <dgm:pt modelId="{3E107DC5-2D0E-42DB-A28B-703DDC1753EA}" type="sibTrans" cxnId="{06515460-C734-432F-8A94-F5F3408FD0E3}">
      <dgm:prSet/>
      <dgm:spPr/>
      <dgm:t>
        <a:bodyPr/>
        <a:lstStyle/>
        <a:p>
          <a:endParaRPr lang="en-US"/>
        </a:p>
      </dgm:t>
    </dgm:pt>
    <dgm:pt modelId="{27BB5C61-079C-418C-8A44-8CA740C19413}">
      <dgm:prSet/>
      <dgm:spPr/>
      <dgm:t>
        <a:bodyPr/>
        <a:lstStyle/>
        <a:p>
          <a:r>
            <a:rPr lang="en-US"/>
            <a:t>Discuss policy responses and lessons for other nations.</a:t>
          </a:r>
        </a:p>
      </dgm:t>
    </dgm:pt>
    <dgm:pt modelId="{C5165F24-2A9A-46BB-BFB6-7179A725ABC6}" type="parTrans" cxnId="{D50CADA1-8FEC-4265-B383-AB46AF1DCD42}">
      <dgm:prSet/>
      <dgm:spPr/>
      <dgm:t>
        <a:bodyPr/>
        <a:lstStyle/>
        <a:p>
          <a:endParaRPr lang="en-US"/>
        </a:p>
      </dgm:t>
    </dgm:pt>
    <dgm:pt modelId="{E22E7F2D-FE2F-439C-A1C2-965AA816B22D}" type="sibTrans" cxnId="{D50CADA1-8FEC-4265-B383-AB46AF1DCD42}">
      <dgm:prSet/>
      <dgm:spPr/>
      <dgm:t>
        <a:bodyPr/>
        <a:lstStyle/>
        <a:p>
          <a:endParaRPr lang="en-US"/>
        </a:p>
      </dgm:t>
    </dgm:pt>
    <dgm:pt modelId="{9B6A3481-F366-4E00-858A-1FC86C9FBB8F}">
      <dgm:prSet/>
      <dgm:spPr/>
      <dgm:t>
        <a:bodyPr/>
        <a:lstStyle/>
        <a:p>
          <a:r>
            <a:rPr lang="en-US"/>
            <a:t>Structure includes: Theories, Overview, Causes, Impacts, Comparative Product Studies, and Strategies.</a:t>
          </a:r>
        </a:p>
      </dgm:t>
    </dgm:pt>
    <dgm:pt modelId="{C9C6DCFE-1511-4E8D-9C96-55EB95C0D0B4}" type="parTrans" cxnId="{366BBED0-04B9-4D5D-A3FE-89EE698F86DB}">
      <dgm:prSet/>
      <dgm:spPr/>
      <dgm:t>
        <a:bodyPr/>
        <a:lstStyle/>
        <a:p>
          <a:endParaRPr lang="en-US"/>
        </a:p>
      </dgm:t>
    </dgm:pt>
    <dgm:pt modelId="{4567875E-B47B-4624-99C7-FC7A8A129BD3}" type="sibTrans" cxnId="{366BBED0-04B9-4D5D-A3FE-89EE698F86DB}">
      <dgm:prSet/>
      <dgm:spPr/>
      <dgm:t>
        <a:bodyPr/>
        <a:lstStyle/>
        <a:p>
          <a:endParaRPr lang="en-US"/>
        </a:p>
      </dgm:t>
    </dgm:pt>
    <dgm:pt modelId="{E760DF41-2158-4AC8-ABBB-2DDA71AEB629}" type="pres">
      <dgm:prSet presAssocID="{2D35F862-F5AB-4FC0-B7B9-EF1BC274F827}" presName="root" presStyleCnt="0">
        <dgm:presLayoutVars>
          <dgm:dir/>
          <dgm:resizeHandles val="exact"/>
        </dgm:presLayoutVars>
      </dgm:prSet>
      <dgm:spPr/>
    </dgm:pt>
    <dgm:pt modelId="{9E29A0AD-F0FA-42AE-9153-CE2526BFB847}" type="pres">
      <dgm:prSet presAssocID="{2D35F862-F5AB-4FC0-B7B9-EF1BC274F827}" presName="container" presStyleCnt="0">
        <dgm:presLayoutVars>
          <dgm:dir/>
          <dgm:resizeHandles val="exact"/>
        </dgm:presLayoutVars>
      </dgm:prSet>
      <dgm:spPr/>
    </dgm:pt>
    <dgm:pt modelId="{421815D1-E75B-489F-B431-D90A2EABC3C3}" type="pres">
      <dgm:prSet presAssocID="{A78EAABF-F0F3-4888-AB6A-49A2C510305F}" presName="compNode" presStyleCnt="0"/>
      <dgm:spPr/>
    </dgm:pt>
    <dgm:pt modelId="{B0F87AD1-2B50-4A8D-9C10-641B6D91AF03}" type="pres">
      <dgm:prSet presAssocID="{A78EAABF-F0F3-4888-AB6A-49A2C510305F}" presName="iconBgRect" presStyleLbl="bgShp" presStyleIdx="0" presStyleCnt="4"/>
      <dgm:spPr/>
    </dgm:pt>
    <dgm:pt modelId="{470737A0-264B-40D5-B5BD-11F26475E930}" type="pres">
      <dgm:prSet presAssocID="{A78EAABF-F0F3-4888-AB6A-49A2C510305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2EB1793D-1686-430E-9F9F-98BA75B32EAA}" type="pres">
      <dgm:prSet presAssocID="{A78EAABF-F0F3-4888-AB6A-49A2C510305F}" presName="spaceRect" presStyleCnt="0"/>
      <dgm:spPr/>
    </dgm:pt>
    <dgm:pt modelId="{8959AB4E-837F-4AFC-A29D-635DB07E3530}" type="pres">
      <dgm:prSet presAssocID="{A78EAABF-F0F3-4888-AB6A-49A2C510305F}" presName="textRect" presStyleLbl="revTx" presStyleIdx="0" presStyleCnt="4">
        <dgm:presLayoutVars>
          <dgm:chMax val="1"/>
          <dgm:chPref val="1"/>
        </dgm:presLayoutVars>
      </dgm:prSet>
      <dgm:spPr/>
    </dgm:pt>
    <dgm:pt modelId="{BBFCE896-1723-4E1B-A8E9-CD51DC404C16}" type="pres">
      <dgm:prSet presAssocID="{5E48CE79-6999-4D10-8D3C-44E7A88AC2E6}" presName="sibTrans" presStyleLbl="sibTrans2D1" presStyleIdx="0" presStyleCnt="0"/>
      <dgm:spPr/>
    </dgm:pt>
    <dgm:pt modelId="{CD57B58D-AAE2-4BA1-BDA7-E1EA40657245}" type="pres">
      <dgm:prSet presAssocID="{FDAD4C2F-5A1C-4ED1-A5C9-4D6CB479ADB7}" presName="compNode" presStyleCnt="0"/>
      <dgm:spPr/>
    </dgm:pt>
    <dgm:pt modelId="{BA26B523-8D84-4E7E-8B39-8031EB4DB311}" type="pres">
      <dgm:prSet presAssocID="{FDAD4C2F-5A1C-4ED1-A5C9-4D6CB479ADB7}" presName="iconBgRect" presStyleLbl="bgShp" presStyleIdx="1" presStyleCnt="4"/>
      <dgm:spPr/>
    </dgm:pt>
    <dgm:pt modelId="{542B83D3-1769-4CC0-93A3-FA0D3F246A00}" type="pres">
      <dgm:prSet presAssocID="{FDAD4C2F-5A1C-4ED1-A5C9-4D6CB479ADB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udge"/>
        </a:ext>
      </dgm:extLst>
    </dgm:pt>
    <dgm:pt modelId="{C174BCFA-A78B-405C-A207-4EC795F4A9CC}" type="pres">
      <dgm:prSet presAssocID="{FDAD4C2F-5A1C-4ED1-A5C9-4D6CB479ADB7}" presName="spaceRect" presStyleCnt="0"/>
      <dgm:spPr/>
    </dgm:pt>
    <dgm:pt modelId="{EEF738A9-B516-475C-9BBD-398AEE2ECABF}" type="pres">
      <dgm:prSet presAssocID="{FDAD4C2F-5A1C-4ED1-A5C9-4D6CB479ADB7}" presName="textRect" presStyleLbl="revTx" presStyleIdx="1" presStyleCnt="4">
        <dgm:presLayoutVars>
          <dgm:chMax val="1"/>
          <dgm:chPref val="1"/>
        </dgm:presLayoutVars>
      </dgm:prSet>
      <dgm:spPr/>
    </dgm:pt>
    <dgm:pt modelId="{8B5ADFF8-B0F7-4E4C-85C3-2DEC06B4B5B6}" type="pres">
      <dgm:prSet presAssocID="{3E107DC5-2D0E-42DB-A28B-703DDC1753EA}" presName="sibTrans" presStyleLbl="sibTrans2D1" presStyleIdx="0" presStyleCnt="0"/>
      <dgm:spPr/>
    </dgm:pt>
    <dgm:pt modelId="{C40DFCD6-49DA-4AED-8B95-C64D4FF8EB6A}" type="pres">
      <dgm:prSet presAssocID="{27BB5C61-079C-418C-8A44-8CA740C19413}" presName="compNode" presStyleCnt="0"/>
      <dgm:spPr/>
    </dgm:pt>
    <dgm:pt modelId="{3112D2C7-3BAE-49BC-BE89-6B19C9B2286D}" type="pres">
      <dgm:prSet presAssocID="{27BB5C61-079C-418C-8A44-8CA740C19413}" presName="iconBgRect" presStyleLbl="bgShp" presStyleIdx="2" presStyleCnt="4"/>
      <dgm:spPr/>
    </dgm:pt>
    <dgm:pt modelId="{E891634D-3AE5-4573-BCFA-046713570335}" type="pres">
      <dgm:prSet presAssocID="{27BB5C61-079C-418C-8A44-8CA740C1941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88E560D3-9B75-4AC9-8F12-CFD06F78D023}" type="pres">
      <dgm:prSet presAssocID="{27BB5C61-079C-418C-8A44-8CA740C19413}" presName="spaceRect" presStyleCnt="0"/>
      <dgm:spPr/>
    </dgm:pt>
    <dgm:pt modelId="{F1F20B12-777E-484E-98D8-99FE9419FCDB}" type="pres">
      <dgm:prSet presAssocID="{27BB5C61-079C-418C-8A44-8CA740C19413}" presName="textRect" presStyleLbl="revTx" presStyleIdx="2" presStyleCnt="4">
        <dgm:presLayoutVars>
          <dgm:chMax val="1"/>
          <dgm:chPref val="1"/>
        </dgm:presLayoutVars>
      </dgm:prSet>
      <dgm:spPr/>
    </dgm:pt>
    <dgm:pt modelId="{B1C4867F-58E2-4FE2-A637-319FB5B8A7E2}" type="pres">
      <dgm:prSet presAssocID="{E22E7F2D-FE2F-439C-A1C2-965AA816B22D}" presName="sibTrans" presStyleLbl="sibTrans2D1" presStyleIdx="0" presStyleCnt="0"/>
      <dgm:spPr/>
    </dgm:pt>
    <dgm:pt modelId="{C2F6E071-FFED-4327-B686-40B8A6104C00}" type="pres">
      <dgm:prSet presAssocID="{9B6A3481-F366-4E00-858A-1FC86C9FBB8F}" presName="compNode" presStyleCnt="0"/>
      <dgm:spPr/>
    </dgm:pt>
    <dgm:pt modelId="{18C1FF39-D22A-441E-A3A3-9D108DC5211B}" type="pres">
      <dgm:prSet presAssocID="{9B6A3481-F366-4E00-858A-1FC86C9FBB8F}" presName="iconBgRect" presStyleLbl="bgShp" presStyleIdx="3" presStyleCnt="4"/>
      <dgm:spPr/>
    </dgm:pt>
    <dgm:pt modelId="{03991165-54C8-4E39-89D0-95A1C90A1930}" type="pres">
      <dgm:prSet presAssocID="{9B6A3481-F366-4E00-858A-1FC86C9FBB8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7C7B4DA-2159-4812-BF2C-50D62B9AE3F7}" type="pres">
      <dgm:prSet presAssocID="{9B6A3481-F366-4E00-858A-1FC86C9FBB8F}" presName="spaceRect" presStyleCnt="0"/>
      <dgm:spPr/>
    </dgm:pt>
    <dgm:pt modelId="{1C344ED1-CF2A-4569-895E-EBDAEB90079F}" type="pres">
      <dgm:prSet presAssocID="{9B6A3481-F366-4E00-858A-1FC86C9FBB8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9922C12-8B87-4E37-AF68-05450E14E5DF}" type="presOf" srcId="{27BB5C61-079C-418C-8A44-8CA740C19413}" destId="{F1F20B12-777E-484E-98D8-99FE9419FCDB}" srcOrd="0" destOrd="0" presId="urn:microsoft.com/office/officeart/2018/2/layout/IconCircleList"/>
    <dgm:cxn modelId="{06515460-C734-432F-8A94-F5F3408FD0E3}" srcId="{2D35F862-F5AB-4FC0-B7B9-EF1BC274F827}" destId="{FDAD4C2F-5A1C-4ED1-A5C9-4D6CB479ADB7}" srcOrd="1" destOrd="0" parTransId="{11FC4514-55A0-4C74-A6B4-9EA3E87EFD44}" sibTransId="{3E107DC5-2D0E-42DB-A28B-703DDC1753EA}"/>
    <dgm:cxn modelId="{ADDC016C-95EB-4AF5-97C0-7424EA20F85D}" type="presOf" srcId="{2D35F862-F5AB-4FC0-B7B9-EF1BC274F827}" destId="{E760DF41-2158-4AC8-ABBB-2DDA71AEB629}" srcOrd="0" destOrd="0" presId="urn:microsoft.com/office/officeart/2018/2/layout/IconCircleList"/>
    <dgm:cxn modelId="{85E19A70-8D8D-402A-9D04-AE3785941C44}" type="presOf" srcId="{E22E7F2D-FE2F-439C-A1C2-965AA816B22D}" destId="{B1C4867F-58E2-4FE2-A637-319FB5B8A7E2}" srcOrd="0" destOrd="0" presId="urn:microsoft.com/office/officeart/2018/2/layout/IconCircleList"/>
    <dgm:cxn modelId="{541F117E-D471-404D-B928-641E8FB1E46F}" type="presOf" srcId="{3E107DC5-2D0E-42DB-A28B-703DDC1753EA}" destId="{8B5ADFF8-B0F7-4E4C-85C3-2DEC06B4B5B6}" srcOrd="0" destOrd="0" presId="urn:microsoft.com/office/officeart/2018/2/layout/IconCircleList"/>
    <dgm:cxn modelId="{D50CADA1-8FEC-4265-B383-AB46AF1DCD42}" srcId="{2D35F862-F5AB-4FC0-B7B9-EF1BC274F827}" destId="{27BB5C61-079C-418C-8A44-8CA740C19413}" srcOrd="2" destOrd="0" parTransId="{C5165F24-2A9A-46BB-BFB6-7179A725ABC6}" sibTransId="{E22E7F2D-FE2F-439C-A1C2-965AA816B22D}"/>
    <dgm:cxn modelId="{7C896BB7-5BD2-4232-A442-C04802F22999}" type="presOf" srcId="{A78EAABF-F0F3-4888-AB6A-49A2C510305F}" destId="{8959AB4E-837F-4AFC-A29D-635DB07E3530}" srcOrd="0" destOrd="0" presId="urn:microsoft.com/office/officeart/2018/2/layout/IconCircleList"/>
    <dgm:cxn modelId="{A1E4C0B7-A383-493B-8FF0-B5F86656ABD5}" type="presOf" srcId="{5E48CE79-6999-4D10-8D3C-44E7A88AC2E6}" destId="{BBFCE896-1723-4E1B-A8E9-CD51DC404C16}" srcOrd="0" destOrd="0" presId="urn:microsoft.com/office/officeart/2018/2/layout/IconCircleList"/>
    <dgm:cxn modelId="{366BBED0-04B9-4D5D-A3FE-89EE698F86DB}" srcId="{2D35F862-F5AB-4FC0-B7B9-EF1BC274F827}" destId="{9B6A3481-F366-4E00-858A-1FC86C9FBB8F}" srcOrd="3" destOrd="0" parTransId="{C9C6DCFE-1511-4E8D-9C96-55EB95C0D0B4}" sibTransId="{4567875E-B47B-4624-99C7-FC7A8A129BD3}"/>
    <dgm:cxn modelId="{816C52EC-55F5-4EBA-A2A3-993516646F29}" srcId="{2D35F862-F5AB-4FC0-B7B9-EF1BC274F827}" destId="{A78EAABF-F0F3-4888-AB6A-49A2C510305F}" srcOrd="0" destOrd="0" parTransId="{32AA6364-533F-4302-9856-FC052C90BBD6}" sibTransId="{5E48CE79-6999-4D10-8D3C-44E7A88AC2E6}"/>
    <dgm:cxn modelId="{182743EE-69EC-46FA-8435-39344BB8C6AC}" type="presOf" srcId="{FDAD4C2F-5A1C-4ED1-A5C9-4D6CB479ADB7}" destId="{EEF738A9-B516-475C-9BBD-398AEE2ECABF}" srcOrd="0" destOrd="0" presId="urn:microsoft.com/office/officeart/2018/2/layout/IconCircleList"/>
    <dgm:cxn modelId="{C87037F6-0C6A-475D-B28B-CEF0D2E3627D}" type="presOf" srcId="{9B6A3481-F366-4E00-858A-1FC86C9FBB8F}" destId="{1C344ED1-CF2A-4569-895E-EBDAEB90079F}" srcOrd="0" destOrd="0" presId="urn:microsoft.com/office/officeart/2018/2/layout/IconCircleList"/>
    <dgm:cxn modelId="{D185204C-EF84-4FC5-98D3-E34B8CDD97EC}" type="presParOf" srcId="{E760DF41-2158-4AC8-ABBB-2DDA71AEB629}" destId="{9E29A0AD-F0FA-42AE-9153-CE2526BFB847}" srcOrd="0" destOrd="0" presId="urn:microsoft.com/office/officeart/2018/2/layout/IconCircleList"/>
    <dgm:cxn modelId="{05EE8C66-7ACA-431B-87A8-E2AD0181D700}" type="presParOf" srcId="{9E29A0AD-F0FA-42AE-9153-CE2526BFB847}" destId="{421815D1-E75B-489F-B431-D90A2EABC3C3}" srcOrd="0" destOrd="0" presId="urn:microsoft.com/office/officeart/2018/2/layout/IconCircleList"/>
    <dgm:cxn modelId="{703DCE06-FD6F-435B-ABD6-78DF9845656C}" type="presParOf" srcId="{421815D1-E75B-489F-B431-D90A2EABC3C3}" destId="{B0F87AD1-2B50-4A8D-9C10-641B6D91AF03}" srcOrd="0" destOrd="0" presId="urn:microsoft.com/office/officeart/2018/2/layout/IconCircleList"/>
    <dgm:cxn modelId="{15860710-1810-420F-AFE8-29085DB024AD}" type="presParOf" srcId="{421815D1-E75B-489F-B431-D90A2EABC3C3}" destId="{470737A0-264B-40D5-B5BD-11F26475E930}" srcOrd="1" destOrd="0" presId="urn:microsoft.com/office/officeart/2018/2/layout/IconCircleList"/>
    <dgm:cxn modelId="{342D51CF-E272-4E3C-8F45-DDB97F97A314}" type="presParOf" srcId="{421815D1-E75B-489F-B431-D90A2EABC3C3}" destId="{2EB1793D-1686-430E-9F9F-98BA75B32EAA}" srcOrd="2" destOrd="0" presId="urn:microsoft.com/office/officeart/2018/2/layout/IconCircleList"/>
    <dgm:cxn modelId="{DB2431AD-004D-4FE2-8457-E883CB8FBDCF}" type="presParOf" srcId="{421815D1-E75B-489F-B431-D90A2EABC3C3}" destId="{8959AB4E-837F-4AFC-A29D-635DB07E3530}" srcOrd="3" destOrd="0" presId="urn:microsoft.com/office/officeart/2018/2/layout/IconCircleList"/>
    <dgm:cxn modelId="{44AB2BF7-1998-4834-9732-DB4DE738FF42}" type="presParOf" srcId="{9E29A0AD-F0FA-42AE-9153-CE2526BFB847}" destId="{BBFCE896-1723-4E1B-A8E9-CD51DC404C16}" srcOrd="1" destOrd="0" presId="urn:microsoft.com/office/officeart/2018/2/layout/IconCircleList"/>
    <dgm:cxn modelId="{EE5FE0BB-0AD7-4583-B202-75EE1CB725D9}" type="presParOf" srcId="{9E29A0AD-F0FA-42AE-9153-CE2526BFB847}" destId="{CD57B58D-AAE2-4BA1-BDA7-E1EA40657245}" srcOrd="2" destOrd="0" presId="urn:microsoft.com/office/officeart/2018/2/layout/IconCircleList"/>
    <dgm:cxn modelId="{69988A63-93BA-43AA-85DF-50DF4AEDC0F3}" type="presParOf" srcId="{CD57B58D-AAE2-4BA1-BDA7-E1EA40657245}" destId="{BA26B523-8D84-4E7E-8B39-8031EB4DB311}" srcOrd="0" destOrd="0" presId="urn:microsoft.com/office/officeart/2018/2/layout/IconCircleList"/>
    <dgm:cxn modelId="{7299228F-B892-4A02-8047-818ED42AEDEE}" type="presParOf" srcId="{CD57B58D-AAE2-4BA1-BDA7-E1EA40657245}" destId="{542B83D3-1769-4CC0-93A3-FA0D3F246A00}" srcOrd="1" destOrd="0" presId="urn:microsoft.com/office/officeart/2018/2/layout/IconCircleList"/>
    <dgm:cxn modelId="{0D7C6BD0-784B-46D0-A58F-74C03001535E}" type="presParOf" srcId="{CD57B58D-AAE2-4BA1-BDA7-E1EA40657245}" destId="{C174BCFA-A78B-405C-A207-4EC795F4A9CC}" srcOrd="2" destOrd="0" presId="urn:microsoft.com/office/officeart/2018/2/layout/IconCircleList"/>
    <dgm:cxn modelId="{B5936884-CE17-4218-8BD0-5777B847F67B}" type="presParOf" srcId="{CD57B58D-AAE2-4BA1-BDA7-E1EA40657245}" destId="{EEF738A9-B516-475C-9BBD-398AEE2ECABF}" srcOrd="3" destOrd="0" presId="urn:microsoft.com/office/officeart/2018/2/layout/IconCircleList"/>
    <dgm:cxn modelId="{3C567831-C8A1-4053-866B-755DDFE67C50}" type="presParOf" srcId="{9E29A0AD-F0FA-42AE-9153-CE2526BFB847}" destId="{8B5ADFF8-B0F7-4E4C-85C3-2DEC06B4B5B6}" srcOrd="3" destOrd="0" presId="urn:microsoft.com/office/officeart/2018/2/layout/IconCircleList"/>
    <dgm:cxn modelId="{ACE1A616-FD78-430A-BCA9-11D3F687C66F}" type="presParOf" srcId="{9E29A0AD-F0FA-42AE-9153-CE2526BFB847}" destId="{C40DFCD6-49DA-4AED-8B95-C64D4FF8EB6A}" srcOrd="4" destOrd="0" presId="urn:microsoft.com/office/officeart/2018/2/layout/IconCircleList"/>
    <dgm:cxn modelId="{6D3B39A1-779D-443A-80DE-FCCC8FDD74D4}" type="presParOf" srcId="{C40DFCD6-49DA-4AED-8B95-C64D4FF8EB6A}" destId="{3112D2C7-3BAE-49BC-BE89-6B19C9B2286D}" srcOrd="0" destOrd="0" presId="urn:microsoft.com/office/officeart/2018/2/layout/IconCircleList"/>
    <dgm:cxn modelId="{1CEE1153-2450-4778-A5A6-89D60F22B72E}" type="presParOf" srcId="{C40DFCD6-49DA-4AED-8B95-C64D4FF8EB6A}" destId="{E891634D-3AE5-4573-BCFA-046713570335}" srcOrd="1" destOrd="0" presId="urn:microsoft.com/office/officeart/2018/2/layout/IconCircleList"/>
    <dgm:cxn modelId="{30584FBA-359B-4C3A-AAB9-B60F4C5197E2}" type="presParOf" srcId="{C40DFCD6-49DA-4AED-8B95-C64D4FF8EB6A}" destId="{88E560D3-9B75-4AC9-8F12-CFD06F78D023}" srcOrd="2" destOrd="0" presId="urn:microsoft.com/office/officeart/2018/2/layout/IconCircleList"/>
    <dgm:cxn modelId="{CDA80124-7724-425D-A7EB-BC71CD64DAA9}" type="presParOf" srcId="{C40DFCD6-49DA-4AED-8B95-C64D4FF8EB6A}" destId="{F1F20B12-777E-484E-98D8-99FE9419FCDB}" srcOrd="3" destOrd="0" presId="urn:microsoft.com/office/officeart/2018/2/layout/IconCircleList"/>
    <dgm:cxn modelId="{FBAEE9EF-B81A-46DF-B0B2-DB1621BDBC65}" type="presParOf" srcId="{9E29A0AD-F0FA-42AE-9153-CE2526BFB847}" destId="{B1C4867F-58E2-4FE2-A637-319FB5B8A7E2}" srcOrd="5" destOrd="0" presId="urn:microsoft.com/office/officeart/2018/2/layout/IconCircleList"/>
    <dgm:cxn modelId="{7250C062-57F2-40F0-81D3-46ADE7978E38}" type="presParOf" srcId="{9E29A0AD-F0FA-42AE-9153-CE2526BFB847}" destId="{C2F6E071-FFED-4327-B686-40B8A6104C00}" srcOrd="6" destOrd="0" presId="urn:microsoft.com/office/officeart/2018/2/layout/IconCircleList"/>
    <dgm:cxn modelId="{E9CC327F-A798-44F6-9A69-EBC046F078D0}" type="presParOf" srcId="{C2F6E071-FFED-4327-B686-40B8A6104C00}" destId="{18C1FF39-D22A-441E-A3A3-9D108DC5211B}" srcOrd="0" destOrd="0" presId="urn:microsoft.com/office/officeart/2018/2/layout/IconCircleList"/>
    <dgm:cxn modelId="{98CBC4BB-9521-4DFB-B262-D72D2CAF0F67}" type="presParOf" srcId="{C2F6E071-FFED-4327-B686-40B8A6104C00}" destId="{03991165-54C8-4E39-89D0-95A1C90A1930}" srcOrd="1" destOrd="0" presId="urn:microsoft.com/office/officeart/2018/2/layout/IconCircleList"/>
    <dgm:cxn modelId="{9C19F6AE-70C3-4BD9-B0F9-EEADA4A60570}" type="presParOf" srcId="{C2F6E071-FFED-4327-B686-40B8A6104C00}" destId="{27C7B4DA-2159-4812-BF2C-50D62B9AE3F7}" srcOrd="2" destOrd="0" presId="urn:microsoft.com/office/officeart/2018/2/layout/IconCircleList"/>
    <dgm:cxn modelId="{B2D5960D-2F61-434A-BAE1-BE1FA8217569}" type="presParOf" srcId="{C2F6E071-FFED-4327-B686-40B8A6104C00}" destId="{1C344ED1-CF2A-4569-895E-EBDAEB90079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E6BFA88-A484-4158-B93E-4887B4DA9A2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B7048F0-4F29-4717-862E-7CE1A7190ADF}">
      <dgm:prSet/>
      <dgm:spPr/>
      <dgm:t>
        <a:bodyPr/>
        <a:lstStyle/>
        <a:p>
          <a:r>
            <a:rPr lang="en-US"/>
            <a:t>Currency devaluation boosts exports; overvaluation worsens deficits.</a:t>
          </a:r>
        </a:p>
      </dgm:t>
    </dgm:pt>
    <dgm:pt modelId="{AC9124CA-595E-4C82-BC63-0CDB31934C09}" type="parTrans" cxnId="{AE4F7122-93CB-493F-A1F4-896D3908432F}">
      <dgm:prSet/>
      <dgm:spPr/>
      <dgm:t>
        <a:bodyPr/>
        <a:lstStyle/>
        <a:p>
          <a:endParaRPr lang="en-US"/>
        </a:p>
      </dgm:t>
    </dgm:pt>
    <dgm:pt modelId="{FCD98BF8-B9B9-42B2-BEBC-9C3F0A439E35}" type="sibTrans" cxnId="{AE4F7122-93CB-493F-A1F4-896D3908432F}">
      <dgm:prSet/>
      <dgm:spPr/>
      <dgm:t>
        <a:bodyPr/>
        <a:lstStyle/>
        <a:p>
          <a:endParaRPr lang="en-US"/>
        </a:p>
      </dgm:t>
    </dgm:pt>
    <dgm:pt modelId="{4C6BCF16-B5AE-4AAE-9C88-DA647C2866A2}">
      <dgm:prSet/>
      <dgm:spPr/>
      <dgm:t>
        <a:bodyPr/>
        <a:lstStyle/>
        <a:p>
          <a:r>
            <a:rPr lang="en-US"/>
            <a:t>Tariffs protect local industries but may trigger retaliation.</a:t>
          </a:r>
        </a:p>
      </dgm:t>
    </dgm:pt>
    <dgm:pt modelId="{ED61B262-71F2-42B2-BA4C-B1A00E7CF45D}" type="parTrans" cxnId="{49A81229-7219-438D-AB02-7759120B2A06}">
      <dgm:prSet/>
      <dgm:spPr/>
      <dgm:t>
        <a:bodyPr/>
        <a:lstStyle/>
        <a:p>
          <a:endParaRPr lang="en-US"/>
        </a:p>
      </dgm:t>
    </dgm:pt>
    <dgm:pt modelId="{4255F811-C66E-4A7B-8A37-85D595B85986}" type="sibTrans" cxnId="{49A81229-7219-438D-AB02-7759120B2A06}">
      <dgm:prSet/>
      <dgm:spPr/>
      <dgm:t>
        <a:bodyPr/>
        <a:lstStyle/>
        <a:p>
          <a:endParaRPr lang="en-US"/>
        </a:p>
      </dgm:t>
    </dgm:pt>
    <dgm:pt modelId="{34883A0B-38EF-4D05-8643-91DE1A3A3209}">
      <dgm:prSet/>
      <dgm:spPr/>
      <dgm:t>
        <a:bodyPr/>
        <a:lstStyle/>
        <a:p>
          <a:r>
            <a:rPr lang="en-US"/>
            <a:t>Trade policies (FTAs, quotas, subsidies) shape competitiveness.</a:t>
          </a:r>
        </a:p>
      </dgm:t>
    </dgm:pt>
    <dgm:pt modelId="{15B26CCD-228A-466F-BC7A-C27D10173A31}" type="parTrans" cxnId="{62E4D226-17F7-4A27-B945-3FF9ED70C5EE}">
      <dgm:prSet/>
      <dgm:spPr/>
      <dgm:t>
        <a:bodyPr/>
        <a:lstStyle/>
        <a:p>
          <a:endParaRPr lang="en-US"/>
        </a:p>
      </dgm:t>
    </dgm:pt>
    <dgm:pt modelId="{30BB7994-4089-4AB2-93AC-7D88810314B4}" type="sibTrans" cxnId="{62E4D226-17F7-4A27-B945-3FF9ED70C5EE}">
      <dgm:prSet/>
      <dgm:spPr/>
      <dgm:t>
        <a:bodyPr/>
        <a:lstStyle/>
        <a:p>
          <a:endParaRPr lang="en-US"/>
        </a:p>
      </dgm:t>
    </dgm:pt>
    <dgm:pt modelId="{6C7079E7-D567-6346-BE13-1107C0909505}" type="pres">
      <dgm:prSet presAssocID="{DE6BFA88-A484-4158-B93E-4887B4DA9A2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2DC72A3-9BA7-514A-800D-E8D74D977931}" type="pres">
      <dgm:prSet presAssocID="{1B7048F0-4F29-4717-862E-7CE1A7190ADF}" presName="hierRoot1" presStyleCnt="0"/>
      <dgm:spPr/>
    </dgm:pt>
    <dgm:pt modelId="{4E3CF494-28E0-E44F-893B-B4C60DA49DE1}" type="pres">
      <dgm:prSet presAssocID="{1B7048F0-4F29-4717-862E-7CE1A7190ADF}" presName="composite" presStyleCnt="0"/>
      <dgm:spPr/>
    </dgm:pt>
    <dgm:pt modelId="{9D4D0E2E-1E33-2C4C-B2AD-7DA03506D2E5}" type="pres">
      <dgm:prSet presAssocID="{1B7048F0-4F29-4717-862E-7CE1A7190ADF}" presName="background" presStyleLbl="node0" presStyleIdx="0" presStyleCnt="3"/>
      <dgm:spPr/>
    </dgm:pt>
    <dgm:pt modelId="{84F0022B-EAFF-F749-B6B1-7C704C388CEF}" type="pres">
      <dgm:prSet presAssocID="{1B7048F0-4F29-4717-862E-7CE1A7190ADF}" presName="text" presStyleLbl="fgAcc0" presStyleIdx="0" presStyleCnt="3">
        <dgm:presLayoutVars>
          <dgm:chPref val="3"/>
        </dgm:presLayoutVars>
      </dgm:prSet>
      <dgm:spPr/>
    </dgm:pt>
    <dgm:pt modelId="{47CAAF48-330B-CD47-80EB-DBBC451C7F61}" type="pres">
      <dgm:prSet presAssocID="{1B7048F0-4F29-4717-862E-7CE1A7190ADF}" presName="hierChild2" presStyleCnt="0"/>
      <dgm:spPr/>
    </dgm:pt>
    <dgm:pt modelId="{2ECC86AB-7CA8-6F46-B64A-2A858471D5BA}" type="pres">
      <dgm:prSet presAssocID="{4C6BCF16-B5AE-4AAE-9C88-DA647C2866A2}" presName="hierRoot1" presStyleCnt="0"/>
      <dgm:spPr/>
    </dgm:pt>
    <dgm:pt modelId="{B3D5F483-C254-0A43-9C64-E8FED9AB53D6}" type="pres">
      <dgm:prSet presAssocID="{4C6BCF16-B5AE-4AAE-9C88-DA647C2866A2}" presName="composite" presStyleCnt="0"/>
      <dgm:spPr/>
    </dgm:pt>
    <dgm:pt modelId="{0E343164-03B1-DD4D-BB0A-5ECDE01EFD75}" type="pres">
      <dgm:prSet presAssocID="{4C6BCF16-B5AE-4AAE-9C88-DA647C2866A2}" presName="background" presStyleLbl="node0" presStyleIdx="1" presStyleCnt="3"/>
      <dgm:spPr/>
    </dgm:pt>
    <dgm:pt modelId="{D25F441B-4626-6742-8E80-CD5C9A4CAD23}" type="pres">
      <dgm:prSet presAssocID="{4C6BCF16-B5AE-4AAE-9C88-DA647C2866A2}" presName="text" presStyleLbl="fgAcc0" presStyleIdx="1" presStyleCnt="3">
        <dgm:presLayoutVars>
          <dgm:chPref val="3"/>
        </dgm:presLayoutVars>
      </dgm:prSet>
      <dgm:spPr/>
    </dgm:pt>
    <dgm:pt modelId="{7644813B-3DB1-DB46-B65E-044B442666FB}" type="pres">
      <dgm:prSet presAssocID="{4C6BCF16-B5AE-4AAE-9C88-DA647C2866A2}" presName="hierChild2" presStyleCnt="0"/>
      <dgm:spPr/>
    </dgm:pt>
    <dgm:pt modelId="{19081DFB-1F66-B442-90BF-1A6CA358A426}" type="pres">
      <dgm:prSet presAssocID="{34883A0B-38EF-4D05-8643-91DE1A3A3209}" presName="hierRoot1" presStyleCnt="0"/>
      <dgm:spPr/>
    </dgm:pt>
    <dgm:pt modelId="{48DD97B7-4534-2646-8603-760515BDFED2}" type="pres">
      <dgm:prSet presAssocID="{34883A0B-38EF-4D05-8643-91DE1A3A3209}" presName="composite" presStyleCnt="0"/>
      <dgm:spPr/>
    </dgm:pt>
    <dgm:pt modelId="{1252A6F3-8518-B648-B8DC-0245E3946771}" type="pres">
      <dgm:prSet presAssocID="{34883A0B-38EF-4D05-8643-91DE1A3A3209}" presName="background" presStyleLbl="node0" presStyleIdx="2" presStyleCnt="3"/>
      <dgm:spPr/>
    </dgm:pt>
    <dgm:pt modelId="{DF390FC8-D804-9544-B7FA-773DCDEE6FE7}" type="pres">
      <dgm:prSet presAssocID="{34883A0B-38EF-4D05-8643-91DE1A3A3209}" presName="text" presStyleLbl="fgAcc0" presStyleIdx="2" presStyleCnt="3">
        <dgm:presLayoutVars>
          <dgm:chPref val="3"/>
        </dgm:presLayoutVars>
      </dgm:prSet>
      <dgm:spPr/>
    </dgm:pt>
    <dgm:pt modelId="{5733C053-495F-1041-B81C-38517014B4E9}" type="pres">
      <dgm:prSet presAssocID="{34883A0B-38EF-4D05-8643-91DE1A3A3209}" presName="hierChild2" presStyleCnt="0"/>
      <dgm:spPr/>
    </dgm:pt>
  </dgm:ptLst>
  <dgm:cxnLst>
    <dgm:cxn modelId="{7E43A11C-DB2F-B14B-AD59-62EDC4FD8352}" type="presOf" srcId="{1B7048F0-4F29-4717-862E-7CE1A7190ADF}" destId="{84F0022B-EAFF-F749-B6B1-7C704C388CEF}" srcOrd="0" destOrd="0" presId="urn:microsoft.com/office/officeart/2005/8/layout/hierarchy1"/>
    <dgm:cxn modelId="{AE4F7122-93CB-493F-A1F4-896D3908432F}" srcId="{DE6BFA88-A484-4158-B93E-4887B4DA9A2F}" destId="{1B7048F0-4F29-4717-862E-7CE1A7190ADF}" srcOrd="0" destOrd="0" parTransId="{AC9124CA-595E-4C82-BC63-0CDB31934C09}" sibTransId="{FCD98BF8-B9B9-42B2-BEBC-9C3F0A439E35}"/>
    <dgm:cxn modelId="{62E4D226-17F7-4A27-B945-3FF9ED70C5EE}" srcId="{DE6BFA88-A484-4158-B93E-4887B4DA9A2F}" destId="{34883A0B-38EF-4D05-8643-91DE1A3A3209}" srcOrd="2" destOrd="0" parTransId="{15B26CCD-228A-466F-BC7A-C27D10173A31}" sibTransId="{30BB7994-4089-4AB2-93AC-7D88810314B4}"/>
    <dgm:cxn modelId="{49A81229-7219-438D-AB02-7759120B2A06}" srcId="{DE6BFA88-A484-4158-B93E-4887B4DA9A2F}" destId="{4C6BCF16-B5AE-4AAE-9C88-DA647C2866A2}" srcOrd="1" destOrd="0" parTransId="{ED61B262-71F2-42B2-BA4C-B1A00E7CF45D}" sibTransId="{4255F811-C66E-4A7B-8A37-85D595B85986}"/>
    <dgm:cxn modelId="{1954BD33-3FC9-844A-BFC2-098527217CEB}" type="presOf" srcId="{34883A0B-38EF-4D05-8643-91DE1A3A3209}" destId="{DF390FC8-D804-9544-B7FA-773DCDEE6FE7}" srcOrd="0" destOrd="0" presId="urn:microsoft.com/office/officeart/2005/8/layout/hierarchy1"/>
    <dgm:cxn modelId="{EA38105B-A26F-174E-AA1D-2A4F6BA17468}" type="presOf" srcId="{4C6BCF16-B5AE-4AAE-9C88-DA647C2866A2}" destId="{D25F441B-4626-6742-8E80-CD5C9A4CAD23}" srcOrd="0" destOrd="0" presId="urn:microsoft.com/office/officeart/2005/8/layout/hierarchy1"/>
    <dgm:cxn modelId="{03F147F5-CA2E-D240-A006-558A49CE6E0D}" type="presOf" srcId="{DE6BFA88-A484-4158-B93E-4887B4DA9A2F}" destId="{6C7079E7-D567-6346-BE13-1107C0909505}" srcOrd="0" destOrd="0" presId="urn:microsoft.com/office/officeart/2005/8/layout/hierarchy1"/>
    <dgm:cxn modelId="{FCF51154-1244-4346-93B9-EE9CC4754234}" type="presParOf" srcId="{6C7079E7-D567-6346-BE13-1107C0909505}" destId="{E2DC72A3-9BA7-514A-800D-E8D74D977931}" srcOrd="0" destOrd="0" presId="urn:microsoft.com/office/officeart/2005/8/layout/hierarchy1"/>
    <dgm:cxn modelId="{AC1DE18D-D27A-9A45-B603-B01A555A96A4}" type="presParOf" srcId="{E2DC72A3-9BA7-514A-800D-E8D74D977931}" destId="{4E3CF494-28E0-E44F-893B-B4C60DA49DE1}" srcOrd="0" destOrd="0" presId="urn:microsoft.com/office/officeart/2005/8/layout/hierarchy1"/>
    <dgm:cxn modelId="{A91312EB-55BE-BA42-9996-CC6F2C566D93}" type="presParOf" srcId="{4E3CF494-28E0-E44F-893B-B4C60DA49DE1}" destId="{9D4D0E2E-1E33-2C4C-B2AD-7DA03506D2E5}" srcOrd="0" destOrd="0" presId="urn:microsoft.com/office/officeart/2005/8/layout/hierarchy1"/>
    <dgm:cxn modelId="{CD0C73EC-D7DC-9A46-BF64-50523288B20F}" type="presParOf" srcId="{4E3CF494-28E0-E44F-893B-B4C60DA49DE1}" destId="{84F0022B-EAFF-F749-B6B1-7C704C388CEF}" srcOrd="1" destOrd="0" presId="urn:microsoft.com/office/officeart/2005/8/layout/hierarchy1"/>
    <dgm:cxn modelId="{F625F762-53D1-0746-AA12-BF09EA85DFF0}" type="presParOf" srcId="{E2DC72A3-9BA7-514A-800D-E8D74D977931}" destId="{47CAAF48-330B-CD47-80EB-DBBC451C7F61}" srcOrd="1" destOrd="0" presId="urn:microsoft.com/office/officeart/2005/8/layout/hierarchy1"/>
    <dgm:cxn modelId="{B7425C0D-1CC2-9540-88FF-8A9FE7CAB517}" type="presParOf" srcId="{6C7079E7-D567-6346-BE13-1107C0909505}" destId="{2ECC86AB-7CA8-6F46-B64A-2A858471D5BA}" srcOrd="1" destOrd="0" presId="urn:microsoft.com/office/officeart/2005/8/layout/hierarchy1"/>
    <dgm:cxn modelId="{77F50155-6F75-1B49-8208-B0E119D42D12}" type="presParOf" srcId="{2ECC86AB-7CA8-6F46-B64A-2A858471D5BA}" destId="{B3D5F483-C254-0A43-9C64-E8FED9AB53D6}" srcOrd="0" destOrd="0" presId="urn:microsoft.com/office/officeart/2005/8/layout/hierarchy1"/>
    <dgm:cxn modelId="{46B194E5-C3DA-D847-A622-2891DD93E0BB}" type="presParOf" srcId="{B3D5F483-C254-0A43-9C64-E8FED9AB53D6}" destId="{0E343164-03B1-DD4D-BB0A-5ECDE01EFD75}" srcOrd="0" destOrd="0" presId="urn:microsoft.com/office/officeart/2005/8/layout/hierarchy1"/>
    <dgm:cxn modelId="{39D92AA9-E3F9-BE46-B2C5-D4DFC72EC9DA}" type="presParOf" srcId="{B3D5F483-C254-0A43-9C64-E8FED9AB53D6}" destId="{D25F441B-4626-6742-8E80-CD5C9A4CAD23}" srcOrd="1" destOrd="0" presId="urn:microsoft.com/office/officeart/2005/8/layout/hierarchy1"/>
    <dgm:cxn modelId="{864BAA20-875F-1C40-BE1F-81F91F12D78F}" type="presParOf" srcId="{2ECC86AB-7CA8-6F46-B64A-2A858471D5BA}" destId="{7644813B-3DB1-DB46-B65E-044B442666FB}" srcOrd="1" destOrd="0" presId="urn:microsoft.com/office/officeart/2005/8/layout/hierarchy1"/>
    <dgm:cxn modelId="{6A3C620D-4F84-A241-9413-552C994D8546}" type="presParOf" srcId="{6C7079E7-D567-6346-BE13-1107C0909505}" destId="{19081DFB-1F66-B442-90BF-1A6CA358A426}" srcOrd="2" destOrd="0" presId="urn:microsoft.com/office/officeart/2005/8/layout/hierarchy1"/>
    <dgm:cxn modelId="{027A4B0A-E7F4-7B44-AE48-ED75CF7A9759}" type="presParOf" srcId="{19081DFB-1F66-B442-90BF-1A6CA358A426}" destId="{48DD97B7-4534-2646-8603-760515BDFED2}" srcOrd="0" destOrd="0" presId="urn:microsoft.com/office/officeart/2005/8/layout/hierarchy1"/>
    <dgm:cxn modelId="{46625E34-F8B3-454E-9511-F8CD522EE998}" type="presParOf" srcId="{48DD97B7-4534-2646-8603-760515BDFED2}" destId="{1252A6F3-8518-B648-B8DC-0245E3946771}" srcOrd="0" destOrd="0" presId="urn:microsoft.com/office/officeart/2005/8/layout/hierarchy1"/>
    <dgm:cxn modelId="{19B20450-8B46-C840-A519-D32C025B9F4D}" type="presParOf" srcId="{48DD97B7-4534-2646-8603-760515BDFED2}" destId="{DF390FC8-D804-9544-B7FA-773DCDEE6FE7}" srcOrd="1" destOrd="0" presId="urn:microsoft.com/office/officeart/2005/8/layout/hierarchy1"/>
    <dgm:cxn modelId="{8643CEBF-DCAB-3B4B-9D8E-54ACA4B78D50}" type="presParOf" srcId="{19081DFB-1F66-B442-90BF-1A6CA358A426}" destId="{5733C053-495F-1041-B81C-38517014B4E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F7AB275-FC8B-4286-B918-BA8E3954125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7661C59-8971-4A0A-9108-1E7BCC19715D}">
      <dgm:prSet/>
      <dgm:spPr/>
      <dgm:t>
        <a:bodyPr/>
        <a:lstStyle/>
        <a:p>
          <a:r>
            <a:rPr lang="en-US"/>
            <a:t>WTO: Promotes fair trade, resolves disputes, removes barriers.</a:t>
          </a:r>
        </a:p>
      </dgm:t>
    </dgm:pt>
    <dgm:pt modelId="{16586C52-4C6D-49ED-A4E3-9450652D4A4F}" type="parTrans" cxnId="{F3B5EB9F-6C08-45C0-8BBC-ACB3DC917922}">
      <dgm:prSet/>
      <dgm:spPr/>
      <dgm:t>
        <a:bodyPr/>
        <a:lstStyle/>
        <a:p>
          <a:endParaRPr lang="en-US"/>
        </a:p>
      </dgm:t>
    </dgm:pt>
    <dgm:pt modelId="{8D569BC4-F57E-46B1-A86A-F82EF43B17B3}" type="sibTrans" cxnId="{F3B5EB9F-6C08-45C0-8BBC-ACB3DC917922}">
      <dgm:prSet/>
      <dgm:spPr/>
      <dgm:t>
        <a:bodyPr/>
        <a:lstStyle/>
        <a:p>
          <a:endParaRPr lang="en-US"/>
        </a:p>
      </dgm:t>
    </dgm:pt>
    <dgm:pt modelId="{32363906-0C22-4903-B362-49D3EAB30E2D}">
      <dgm:prSet/>
      <dgm:spPr/>
      <dgm:t>
        <a:bodyPr/>
        <a:lstStyle/>
        <a:p>
          <a:r>
            <a:rPr lang="en-US"/>
            <a:t>IMF: Monitors trade imbalances, advises on policies, provides financial support.</a:t>
          </a:r>
        </a:p>
      </dgm:t>
    </dgm:pt>
    <dgm:pt modelId="{87B1E388-C63A-44B6-8D63-1676213B471A}" type="parTrans" cxnId="{B4BB95AC-8DDC-4EF0-98E3-C4CBB6CAAC6A}">
      <dgm:prSet/>
      <dgm:spPr/>
      <dgm:t>
        <a:bodyPr/>
        <a:lstStyle/>
        <a:p>
          <a:endParaRPr lang="en-US"/>
        </a:p>
      </dgm:t>
    </dgm:pt>
    <dgm:pt modelId="{D63E7A97-5465-48D7-963F-8BC59778F4FC}" type="sibTrans" cxnId="{B4BB95AC-8DDC-4EF0-98E3-C4CBB6CAAC6A}">
      <dgm:prSet/>
      <dgm:spPr/>
      <dgm:t>
        <a:bodyPr/>
        <a:lstStyle/>
        <a:p>
          <a:endParaRPr lang="en-US"/>
        </a:p>
      </dgm:t>
    </dgm:pt>
    <dgm:pt modelId="{78254533-854B-40AC-9DDC-30303CEDDFDB}">
      <dgm:prSet/>
      <dgm:spPr/>
      <dgm:t>
        <a:bodyPr/>
        <a:lstStyle/>
        <a:p>
          <a:r>
            <a:rPr lang="en-US"/>
            <a:t>Together, they promote global economic stability.</a:t>
          </a:r>
        </a:p>
      </dgm:t>
    </dgm:pt>
    <dgm:pt modelId="{BC57F506-DC87-4D5A-BF06-F4536FDCB0B4}" type="parTrans" cxnId="{39981B8A-929A-4391-8E00-40F65A2F0A6C}">
      <dgm:prSet/>
      <dgm:spPr/>
      <dgm:t>
        <a:bodyPr/>
        <a:lstStyle/>
        <a:p>
          <a:endParaRPr lang="en-US"/>
        </a:p>
      </dgm:t>
    </dgm:pt>
    <dgm:pt modelId="{5E00B250-E1A7-442B-9E68-A41E10367C64}" type="sibTrans" cxnId="{39981B8A-929A-4391-8E00-40F65A2F0A6C}">
      <dgm:prSet/>
      <dgm:spPr/>
      <dgm:t>
        <a:bodyPr/>
        <a:lstStyle/>
        <a:p>
          <a:endParaRPr lang="en-US"/>
        </a:p>
      </dgm:t>
    </dgm:pt>
    <dgm:pt modelId="{1E9AA49B-2618-4B32-83B4-357AAC6E12DA}" type="pres">
      <dgm:prSet presAssocID="{1F7AB275-FC8B-4286-B918-BA8E39541251}" presName="root" presStyleCnt="0">
        <dgm:presLayoutVars>
          <dgm:dir/>
          <dgm:resizeHandles val="exact"/>
        </dgm:presLayoutVars>
      </dgm:prSet>
      <dgm:spPr/>
    </dgm:pt>
    <dgm:pt modelId="{8472FC4A-8279-41F2-AA78-00780DA083AE}" type="pres">
      <dgm:prSet presAssocID="{17661C59-8971-4A0A-9108-1E7BCC19715D}" presName="compNode" presStyleCnt="0"/>
      <dgm:spPr/>
    </dgm:pt>
    <dgm:pt modelId="{9D2DECB0-B7C1-41A3-B4C0-B67421ECD66A}" type="pres">
      <dgm:prSet presAssocID="{17661C59-8971-4A0A-9108-1E7BCC19715D}" presName="bgRect" presStyleLbl="bgShp" presStyleIdx="0" presStyleCnt="3"/>
      <dgm:spPr/>
    </dgm:pt>
    <dgm:pt modelId="{6633C696-F3AA-4796-AD39-9BEEA1B0BC12}" type="pres">
      <dgm:prSet presAssocID="{17661C59-8971-4A0A-9108-1E7BCC19715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C7C7F302-117E-4FD7-99A5-E37FBF3E42E8}" type="pres">
      <dgm:prSet presAssocID="{17661C59-8971-4A0A-9108-1E7BCC19715D}" presName="spaceRect" presStyleCnt="0"/>
      <dgm:spPr/>
    </dgm:pt>
    <dgm:pt modelId="{28AA6035-8B43-44F7-80F5-A21289742B99}" type="pres">
      <dgm:prSet presAssocID="{17661C59-8971-4A0A-9108-1E7BCC19715D}" presName="parTx" presStyleLbl="revTx" presStyleIdx="0" presStyleCnt="3">
        <dgm:presLayoutVars>
          <dgm:chMax val="0"/>
          <dgm:chPref val="0"/>
        </dgm:presLayoutVars>
      </dgm:prSet>
      <dgm:spPr/>
    </dgm:pt>
    <dgm:pt modelId="{30D4DB63-7D27-405B-ADFF-E864CF52BEED}" type="pres">
      <dgm:prSet presAssocID="{8D569BC4-F57E-46B1-A86A-F82EF43B17B3}" presName="sibTrans" presStyleCnt="0"/>
      <dgm:spPr/>
    </dgm:pt>
    <dgm:pt modelId="{6669D04E-7872-41AD-9271-D4700267031E}" type="pres">
      <dgm:prSet presAssocID="{32363906-0C22-4903-B362-49D3EAB30E2D}" presName="compNode" presStyleCnt="0"/>
      <dgm:spPr/>
    </dgm:pt>
    <dgm:pt modelId="{2AA10B28-1DEC-428E-89FE-9F78C9C78CFF}" type="pres">
      <dgm:prSet presAssocID="{32363906-0C22-4903-B362-49D3EAB30E2D}" presName="bgRect" presStyleLbl="bgShp" presStyleIdx="1" presStyleCnt="3"/>
      <dgm:spPr/>
    </dgm:pt>
    <dgm:pt modelId="{2875FD2C-D0F4-4D8E-9193-A3973E85DA7A}" type="pres">
      <dgm:prSet presAssocID="{32363906-0C22-4903-B362-49D3EAB30E2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972DEDEA-59A8-499D-8C9C-F11C0F58A016}" type="pres">
      <dgm:prSet presAssocID="{32363906-0C22-4903-B362-49D3EAB30E2D}" presName="spaceRect" presStyleCnt="0"/>
      <dgm:spPr/>
    </dgm:pt>
    <dgm:pt modelId="{1C7ACF53-ACE2-48C8-AB98-72D6A57E04B7}" type="pres">
      <dgm:prSet presAssocID="{32363906-0C22-4903-B362-49D3EAB30E2D}" presName="parTx" presStyleLbl="revTx" presStyleIdx="1" presStyleCnt="3">
        <dgm:presLayoutVars>
          <dgm:chMax val="0"/>
          <dgm:chPref val="0"/>
        </dgm:presLayoutVars>
      </dgm:prSet>
      <dgm:spPr/>
    </dgm:pt>
    <dgm:pt modelId="{1EF00D86-D7D9-4785-972D-C54A748AF886}" type="pres">
      <dgm:prSet presAssocID="{D63E7A97-5465-48D7-963F-8BC59778F4FC}" presName="sibTrans" presStyleCnt="0"/>
      <dgm:spPr/>
    </dgm:pt>
    <dgm:pt modelId="{3D2A7612-99FF-4D38-BD04-8C11AC7E456F}" type="pres">
      <dgm:prSet presAssocID="{78254533-854B-40AC-9DDC-30303CEDDFDB}" presName="compNode" presStyleCnt="0"/>
      <dgm:spPr/>
    </dgm:pt>
    <dgm:pt modelId="{47DF5569-A568-42C0-A011-25A46609F61C}" type="pres">
      <dgm:prSet presAssocID="{78254533-854B-40AC-9DDC-30303CEDDFDB}" presName="bgRect" presStyleLbl="bgShp" presStyleIdx="2" presStyleCnt="3"/>
      <dgm:spPr/>
    </dgm:pt>
    <dgm:pt modelId="{DAE9CF93-FD25-4DE4-A635-684D68EACE39}" type="pres">
      <dgm:prSet presAssocID="{78254533-854B-40AC-9DDC-30303CEDDFD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4CF3FBCB-CB2C-4E7A-91B3-ED6BDEA9984A}" type="pres">
      <dgm:prSet presAssocID="{78254533-854B-40AC-9DDC-30303CEDDFDB}" presName="spaceRect" presStyleCnt="0"/>
      <dgm:spPr/>
    </dgm:pt>
    <dgm:pt modelId="{618C5C87-295D-4592-A25A-EFB8EB334CC4}" type="pres">
      <dgm:prSet presAssocID="{78254533-854B-40AC-9DDC-30303CEDDFD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CCE311D-292B-47BE-A6E3-FCBE6022947A}" type="presOf" srcId="{17661C59-8971-4A0A-9108-1E7BCC19715D}" destId="{28AA6035-8B43-44F7-80F5-A21289742B99}" srcOrd="0" destOrd="0" presId="urn:microsoft.com/office/officeart/2018/2/layout/IconVerticalSolidList"/>
    <dgm:cxn modelId="{DEFD3D4B-E5DE-44CA-8FC8-40002CCD5112}" type="presOf" srcId="{78254533-854B-40AC-9DDC-30303CEDDFDB}" destId="{618C5C87-295D-4592-A25A-EFB8EB334CC4}" srcOrd="0" destOrd="0" presId="urn:microsoft.com/office/officeart/2018/2/layout/IconVerticalSolidList"/>
    <dgm:cxn modelId="{96EB3E7D-717A-463B-81F7-0D0E0DC3FECE}" type="presOf" srcId="{32363906-0C22-4903-B362-49D3EAB30E2D}" destId="{1C7ACF53-ACE2-48C8-AB98-72D6A57E04B7}" srcOrd="0" destOrd="0" presId="urn:microsoft.com/office/officeart/2018/2/layout/IconVerticalSolidList"/>
    <dgm:cxn modelId="{39981B8A-929A-4391-8E00-40F65A2F0A6C}" srcId="{1F7AB275-FC8B-4286-B918-BA8E39541251}" destId="{78254533-854B-40AC-9DDC-30303CEDDFDB}" srcOrd="2" destOrd="0" parTransId="{BC57F506-DC87-4D5A-BF06-F4536FDCB0B4}" sibTransId="{5E00B250-E1A7-442B-9E68-A41E10367C64}"/>
    <dgm:cxn modelId="{1C69739F-FAC4-428B-9E64-7449305210DF}" type="presOf" srcId="{1F7AB275-FC8B-4286-B918-BA8E39541251}" destId="{1E9AA49B-2618-4B32-83B4-357AAC6E12DA}" srcOrd="0" destOrd="0" presId="urn:microsoft.com/office/officeart/2018/2/layout/IconVerticalSolidList"/>
    <dgm:cxn modelId="{F3B5EB9F-6C08-45C0-8BBC-ACB3DC917922}" srcId="{1F7AB275-FC8B-4286-B918-BA8E39541251}" destId="{17661C59-8971-4A0A-9108-1E7BCC19715D}" srcOrd="0" destOrd="0" parTransId="{16586C52-4C6D-49ED-A4E3-9450652D4A4F}" sibTransId="{8D569BC4-F57E-46B1-A86A-F82EF43B17B3}"/>
    <dgm:cxn modelId="{B4BB95AC-8DDC-4EF0-98E3-C4CBB6CAAC6A}" srcId="{1F7AB275-FC8B-4286-B918-BA8E39541251}" destId="{32363906-0C22-4903-B362-49D3EAB30E2D}" srcOrd="1" destOrd="0" parTransId="{87B1E388-C63A-44B6-8D63-1676213B471A}" sibTransId="{D63E7A97-5465-48D7-963F-8BC59778F4FC}"/>
    <dgm:cxn modelId="{FB209BEA-5F9D-41C3-A304-F2D8E8B7FE5A}" type="presParOf" srcId="{1E9AA49B-2618-4B32-83B4-357AAC6E12DA}" destId="{8472FC4A-8279-41F2-AA78-00780DA083AE}" srcOrd="0" destOrd="0" presId="urn:microsoft.com/office/officeart/2018/2/layout/IconVerticalSolidList"/>
    <dgm:cxn modelId="{75C6D888-91D2-4AB8-8F3E-877757A17250}" type="presParOf" srcId="{8472FC4A-8279-41F2-AA78-00780DA083AE}" destId="{9D2DECB0-B7C1-41A3-B4C0-B67421ECD66A}" srcOrd="0" destOrd="0" presId="urn:microsoft.com/office/officeart/2018/2/layout/IconVerticalSolidList"/>
    <dgm:cxn modelId="{261F772C-8276-4DA1-A65C-607B1AAB6B21}" type="presParOf" srcId="{8472FC4A-8279-41F2-AA78-00780DA083AE}" destId="{6633C696-F3AA-4796-AD39-9BEEA1B0BC12}" srcOrd="1" destOrd="0" presId="urn:microsoft.com/office/officeart/2018/2/layout/IconVerticalSolidList"/>
    <dgm:cxn modelId="{776BD57D-E19C-4DDB-9F19-612D87AF2244}" type="presParOf" srcId="{8472FC4A-8279-41F2-AA78-00780DA083AE}" destId="{C7C7F302-117E-4FD7-99A5-E37FBF3E42E8}" srcOrd="2" destOrd="0" presId="urn:microsoft.com/office/officeart/2018/2/layout/IconVerticalSolidList"/>
    <dgm:cxn modelId="{E9E33A29-4324-45A2-8134-60CE118A5632}" type="presParOf" srcId="{8472FC4A-8279-41F2-AA78-00780DA083AE}" destId="{28AA6035-8B43-44F7-80F5-A21289742B99}" srcOrd="3" destOrd="0" presId="urn:microsoft.com/office/officeart/2018/2/layout/IconVerticalSolidList"/>
    <dgm:cxn modelId="{1BE765FA-E99D-4D3A-ADE8-B4C15A8760ED}" type="presParOf" srcId="{1E9AA49B-2618-4B32-83B4-357AAC6E12DA}" destId="{30D4DB63-7D27-405B-ADFF-E864CF52BEED}" srcOrd="1" destOrd="0" presId="urn:microsoft.com/office/officeart/2018/2/layout/IconVerticalSolidList"/>
    <dgm:cxn modelId="{21B2984E-2158-468A-8DC1-CDD09F44A9DC}" type="presParOf" srcId="{1E9AA49B-2618-4B32-83B4-357AAC6E12DA}" destId="{6669D04E-7872-41AD-9271-D4700267031E}" srcOrd="2" destOrd="0" presId="urn:microsoft.com/office/officeart/2018/2/layout/IconVerticalSolidList"/>
    <dgm:cxn modelId="{CDE53A47-3E99-4EAC-BDEF-03C7AEF11789}" type="presParOf" srcId="{6669D04E-7872-41AD-9271-D4700267031E}" destId="{2AA10B28-1DEC-428E-89FE-9F78C9C78CFF}" srcOrd="0" destOrd="0" presId="urn:microsoft.com/office/officeart/2018/2/layout/IconVerticalSolidList"/>
    <dgm:cxn modelId="{E3EFFFE3-A042-4A01-8A06-5AA835A9BB91}" type="presParOf" srcId="{6669D04E-7872-41AD-9271-D4700267031E}" destId="{2875FD2C-D0F4-4D8E-9193-A3973E85DA7A}" srcOrd="1" destOrd="0" presId="urn:microsoft.com/office/officeart/2018/2/layout/IconVerticalSolidList"/>
    <dgm:cxn modelId="{ACACE0FF-B883-40FA-B4EB-7648E1C21C82}" type="presParOf" srcId="{6669D04E-7872-41AD-9271-D4700267031E}" destId="{972DEDEA-59A8-499D-8C9C-F11C0F58A016}" srcOrd="2" destOrd="0" presId="urn:microsoft.com/office/officeart/2018/2/layout/IconVerticalSolidList"/>
    <dgm:cxn modelId="{AF354073-EF11-4CCC-B8C9-0C03E5633C6B}" type="presParOf" srcId="{6669D04E-7872-41AD-9271-D4700267031E}" destId="{1C7ACF53-ACE2-48C8-AB98-72D6A57E04B7}" srcOrd="3" destOrd="0" presId="urn:microsoft.com/office/officeart/2018/2/layout/IconVerticalSolidList"/>
    <dgm:cxn modelId="{E386B16D-0745-48A8-99DD-9FEB7BC35082}" type="presParOf" srcId="{1E9AA49B-2618-4B32-83B4-357AAC6E12DA}" destId="{1EF00D86-D7D9-4785-972D-C54A748AF886}" srcOrd="3" destOrd="0" presId="urn:microsoft.com/office/officeart/2018/2/layout/IconVerticalSolidList"/>
    <dgm:cxn modelId="{C74CD512-ACD6-4C29-95E4-58476BBB7CF8}" type="presParOf" srcId="{1E9AA49B-2618-4B32-83B4-357AAC6E12DA}" destId="{3D2A7612-99FF-4D38-BD04-8C11AC7E456F}" srcOrd="4" destOrd="0" presId="urn:microsoft.com/office/officeart/2018/2/layout/IconVerticalSolidList"/>
    <dgm:cxn modelId="{2B3A13B8-5150-430B-9526-E120D288EA71}" type="presParOf" srcId="{3D2A7612-99FF-4D38-BD04-8C11AC7E456F}" destId="{47DF5569-A568-42C0-A011-25A46609F61C}" srcOrd="0" destOrd="0" presId="urn:microsoft.com/office/officeart/2018/2/layout/IconVerticalSolidList"/>
    <dgm:cxn modelId="{5079E51B-A0EC-4837-9CF9-35D930C48D07}" type="presParOf" srcId="{3D2A7612-99FF-4D38-BD04-8C11AC7E456F}" destId="{DAE9CF93-FD25-4DE4-A635-684D68EACE39}" srcOrd="1" destOrd="0" presId="urn:microsoft.com/office/officeart/2018/2/layout/IconVerticalSolidList"/>
    <dgm:cxn modelId="{0162821B-EDB9-41F6-9059-0AC9F8E4B867}" type="presParOf" srcId="{3D2A7612-99FF-4D38-BD04-8C11AC7E456F}" destId="{4CF3FBCB-CB2C-4E7A-91B3-ED6BDEA9984A}" srcOrd="2" destOrd="0" presId="urn:microsoft.com/office/officeart/2018/2/layout/IconVerticalSolidList"/>
    <dgm:cxn modelId="{A05F3D08-B345-431E-8B8E-ECEE2539510B}" type="presParOf" srcId="{3D2A7612-99FF-4D38-BD04-8C11AC7E456F}" destId="{618C5C87-295D-4592-A25A-EFB8EB334CC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6B366E-F663-0544-98F0-BA33F18136B7}">
      <dsp:nvSpPr>
        <dsp:cNvPr id="0" name=""/>
        <dsp:cNvSpPr/>
      </dsp:nvSpPr>
      <dsp:spPr>
        <a:xfrm>
          <a:off x="0" y="46774"/>
          <a:ext cx="6372366" cy="1698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i="0" kern="1200"/>
            <a:t>International trade promotes access to larger markets and economic growth.</a:t>
          </a:r>
          <a:endParaRPr lang="en-US" sz="3300" kern="1200"/>
        </a:p>
      </dsp:txBody>
      <dsp:txXfrm>
        <a:off x="82931" y="129705"/>
        <a:ext cx="6206504" cy="1532978"/>
      </dsp:txXfrm>
    </dsp:sp>
    <dsp:sp modelId="{98D78CA2-302D-3E4A-A3A4-53FDCDD34FB0}">
      <dsp:nvSpPr>
        <dsp:cNvPr id="0" name=""/>
        <dsp:cNvSpPr/>
      </dsp:nvSpPr>
      <dsp:spPr>
        <a:xfrm>
          <a:off x="0" y="1840654"/>
          <a:ext cx="6372366" cy="1698840"/>
        </a:xfrm>
        <a:prstGeom prst="roundRect">
          <a:avLst/>
        </a:prstGeom>
        <a:solidFill>
          <a:schemeClr val="accent2">
            <a:hueOff val="-1482946"/>
            <a:satOff val="5830"/>
            <a:lumOff val="-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i="0" kern="1200"/>
            <a:t>Supports specialization, innovation, and competition.</a:t>
          </a:r>
          <a:endParaRPr lang="en-US" sz="3300" kern="1200"/>
        </a:p>
      </dsp:txBody>
      <dsp:txXfrm>
        <a:off x="82931" y="1923585"/>
        <a:ext cx="6206504" cy="1532978"/>
      </dsp:txXfrm>
    </dsp:sp>
    <dsp:sp modelId="{2F1C6AC2-3926-F747-AEFB-14F48508321B}">
      <dsp:nvSpPr>
        <dsp:cNvPr id="0" name=""/>
        <dsp:cNvSpPr/>
      </dsp:nvSpPr>
      <dsp:spPr>
        <a:xfrm>
          <a:off x="0" y="3634534"/>
          <a:ext cx="6372366" cy="1698840"/>
        </a:xfrm>
        <a:prstGeom prst="roundRect">
          <a:avLst/>
        </a:prstGeom>
        <a:solidFill>
          <a:schemeClr val="accent2">
            <a:hueOff val="-2965891"/>
            <a:satOff val="11659"/>
            <a:lumOff val="-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i="0" kern="1200"/>
            <a:t>Enhances infrastructure and technology transfer, especially in developing nations.</a:t>
          </a:r>
          <a:endParaRPr lang="en-US" sz="3300" kern="1200"/>
        </a:p>
      </dsp:txBody>
      <dsp:txXfrm>
        <a:off x="82931" y="3717465"/>
        <a:ext cx="6206504" cy="15329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A96AA5-BC61-4939-BE5D-1A4FE7E76ACE}">
      <dsp:nvSpPr>
        <dsp:cNvPr id="0" name=""/>
        <dsp:cNvSpPr/>
      </dsp:nvSpPr>
      <dsp:spPr>
        <a:xfrm>
          <a:off x="679050" y="272616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EDC517-3BE5-4BF9-8C5E-EDDC598C26A5}">
      <dsp:nvSpPr>
        <dsp:cNvPr id="0" name=""/>
        <dsp:cNvSpPr/>
      </dsp:nvSpPr>
      <dsp:spPr>
        <a:xfrm>
          <a:off x="1081237" y="674804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6FACF7-F8C4-46E8-97BB-9E2E5A9E752A}">
      <dsp:nvSpPr>
        <dsp:cNvPr id="0" name=""/>
        <dsp:cNvSpPr/>
      </dsp:nvSpPr>
      <dsp:spPr>
        <a:xfrm>
          <a:off x="75768" y="2747617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Imbalances highlight deeper economic issues.</a:t>
          </a:r>
        </a:p>
      </dsp:txBody>
      <dsp:txXfrm>
        <a:off x="75768" y="2747617"/>
        <a:ext cx="3093750" cy="720000"/>
      </dsp:txXfrm>
    </dsp:sp>
    <dsp:sp modelId="{B41235B0-BF0F-4A5B-A4C0-03DBC76514A0}">
      <dsp:nvSpPr>
        <dsp:cNvPr id="0" name=""/>
        <dsp:cNvSpPr/>
      </dsp:nvSpPr>
      <dsp:spPr>
        <a:xfrm>
          <a:off x="4314206" y="272616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2ECD7F-93EE-4A86-996F-FBC95206055A}">
      <dsp:nvSpPr>
        <dsp:cNvPr id="0" name=""/>
        <dsp:cNvSpPr/>
      </dsp:nvSpPr>
      <dsp:spPr>
        <a:xfrm>
          <a:off x="4716393" y="674804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80FB54-D9EB-4D32-9A2C-17E0CAB9E292}">
      <dsp:nvSpPr>
        <dsp:cNvPr id="0" name=""/>
        <dsp:cNvSpPr/>
      </dsp:nvSpPr>
      <dsp:spPr>
        <a:xfrm>
          <a:off x="3710925" y="2747617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Affect jobs, competitiveness, and global stability.</a:t>
          </a:r>
        </a:p>
      </dsp:txBody>
      <dsp:txXfrm>
        <a:off x="3710925" y="2747617"/>
        <a:ext cx="3093750" cy="720000"/>
      </dsp:txXfrm>
    </dsp:sp>
    <dsp:sp modelId="{51F15DBC-0ACE-482A-8544-9CEA21A49D36}">
      <dsp:nvSpPr>
        <dsp:cNvPr id="0" name=""/>
        <dsp:cNvSpPr/>
      </dsp:nvSpPr>
      <dsp:spPr>
        <a:xfrm>
          <a:off x="7949362" y="272616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9611F5-A0EC-42B4-8995-94533C3088AC}">
      <dsp:nvSpPr>
        <dsp:cNvPr id="0" name=""/>
        <dsp:cNvSpPr/>
      </dsp:nvSpPr>
      <dsp:spPr>
        <a:xfrm>
          <a:off x="8351550" y="674804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A49B7A-04D8-4FAF-8B5E-C57493EF37F1}">
      <dsp:nvSpPr>
        <dsp:cNvPr id="0" name=""/>
        <dsp:cNvSpPr/>
      </dsp:nvSpPr>
      <dsp:spPr>
        <a:xfrm>
          <a:off x="7346081" y="2747617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Essential for crafting effective trade and fiscal policies.</a:t>
          </a:r>
        </a:p>
      </dsp:txBody>
      <dsp:txXfrm>
        <a:off x="7346081" y="2747617"/>
        <a:ext cx="3093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F87AD1-2B50-4A8D-9C10-641B6D91AF03}">
      <dsp:nvSpPr>
        <dsp:cNvPr id="0" name=""/>
        <dsp:cNvSpPr/>
      </dsp:nvSpPr>
      <dsp:spPr>
        <a:xfrm>
          <a:off x="212335" y="321592"/>
          <a:ext cx="1335915" cy="13359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0737A0-264B-40D5-B5BD-11F26475E930}">
      <dsp:nvSpPr>
        <dsp:cNvPr id="0" name=""/>
        <dsp:cNvSpPr/>
      </dsp:nvSpPr>
      <dsp:spPr>
        <a:xfrm>
          <a:off x="492877" y="602134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59AB4E-837F-4AFC-A29D-635DB07E3530}">
      <dsp:nvSpPr>
        <dsp:cNvPr id="0" name=""/>
        <dsp:cNvSpPr/>
      </dsp:nvSpPr>
      <dsp:spPr>
        <a:xfrm>
          <a:off x="1834517" y="32159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Analyze causes and effects of trade imbalances.</a:t>
          </a:r>
        </a:p>
      </dsp:txBody>
      <dsp:txXfrm>
        <a:off x="1834517" y="321592"/>
        <a:ext cx="3148942" cy="1335915"/>
      </dsp:txXfrm>
    </dsp:sp>
    <dsp:sp modelId="{BA26B523-8D84-4E7E-8B39-8031EB4DB311}">
      <dsp:nvSpPr>
        <dsp:cNvPr id="0" name=""/>
        <dsp:cNvSpPr/>
      </dsp:nvSpPr>
      <dsp:spPr>
        <a:xfrm>
          <a:off x="5532139" y="321592"/>
          <a:ext cx="1335915" cy="13359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2B83D3-1769-4CC0-93A3-FA0D3F246A00}">
      <dsp:nvSpPr>
        <dsp:cNvPr id="0" name=""/>
        <dsp:cNvSpPr/>
      </dsp:nvSpPr>
      <dsp:spPr>
        <a:xfrm>
          <a:off x="5812681" y="602134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F738A9-B516-475C-9BBD-398AEE2ECABF}">
      <dsp:nvSpPr>
        <dsp:cNvPr id="0" name=""/>
        <dsp:cNvSpPr/>
      </dsp:nvSpPr>
      <dsp:spPr>
        <a:xfrm>
          <a:off x="7154322" y="32159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Examine U.S.–China trade relations and conflicts.</a:t>
          </a:r>
        </a:p>
      </dsp:txBody>
      <dsp:txXfrm>
        <a:off x="7154322" y="321592"/>
        <a:ext cx="3148942" cy="1335915"/>
      </dsp:txXfrm>
    </dsp:sp>
    <dsp:sp modelId="{3112D2C7-3BAE-49BC-BE89-6B19C9B2286D}">
      <dsp:nvSpPr>
        <dsp:cNvPr id="0" name=""/>
        <dsp:cNvSpPr/>
      </dsp:nvSpPr>
      <dsp:spPr>
        <a:xfrm>
          <a:off x="212335" y="2336485"/>
          <a:ext cx="1335915" cy="13359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91634D-3AE5-4573-BCFA-046713570335}">
      <dsp:nvSpPr>
        <dsp:cNvPr id="0" name=""/>
        <dsp:cNvSpPr/>
      </dsp:nvSpPr>
      <dsp:spPr>
        <a:xfrm>
          <a:off x="492877" y="2617028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F20B12-777E-484E-98D8-99FE9419FCDB}">
      <dsp:nvSpPr>
        <dsp:cNvPr id="0" name=""/>
        <dsp:cNvSpPr/>
      </dsp:nvSpPr>
      <dsp:spPr>
        <a:xfrm>
          <a:off x="1834517" y="2336485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Discuss policy responses and lessons for other nations.</a:t>
          </a:r>
        </a:p>
      </dsp:txBody>
      <dsp:txXfrm>
        <a:off x="1834517" y="2336485"/>
        <a:ext cx="3148942" cy="1335915"/>
      </dsp:txXfrm>
    </dsp:sp>
    <dsp:sp modelId="{18C1FF39-D22A-441E-A3A3-9D108DC5211B}">
      <dsp:nvSpPr>
        <dsp:cNvPr id="0" name=""/>
        <dsp:cNvSpPr/>
      </dsp:nvSpPr>
      <dsp:spPr>
        <a:xfrm>
          <a:off x="5532139" y="2336485"/>
          <a:ext cx="1335915" cy="13359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991165-54C8-4E39-89D0-95A1C90A1930}">
      <dsp:nvSpPr>
        <dsp:cNvPr id="0" name=""/>
        <dsp:cNvSpPr/>
      </dsp:nvSpPr>
      <dsp:spPr>
        <a:xfrm>
          <a:off x="5812681" y="2617028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344ED1-CF2A-4569-895E-EBDAEB90079F}">
      <dsp:nvSpPr>
        <dsp:cNvPr id="0" name=""/>
        <dsp:cNvSpPr/>
      </dsp:nvSpPr>
      <dsp:spPr>
        <a:xfrm>
          <a:off x="7154322" y="2336485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Structure includes: Theories, Overview, Causes, Impacts, Comparative Product Studies, and Strategies.</a:t>
          </a:r>
        </a:p>
      </dsp:txBody>
      <dsp:txXfrm>
        <a:off x="7154322" y="2336485"/>
        <a:ext cx="3148942" cy="13359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4D0E2E-1E33-2C4C-B2AD-7DA03506D2E5}">
      <dsp:nvSpPr>
        <dsp:cNvPr id="0" name=""/>
        <dsp:cNvSpPr/>
      </dsp:nvSpPr>
      <dsp:spPr>
        <a:xfrm>
          <a:off x="0" y="901895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F0022B-EAFF-F749-B6B1-7C704C388CEF}">
      <dsp:nvSpPr>
        <dsp:cNvPr id="0" name=""/>
        <dsp:cNvSpPr/>
      </dsp:nvSpPr>
      <dsp:spPr>
        <a:xfrm>
          <a:off x="328612" y="1214077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Currency devaluation boosts exports; overvaluation worsens deficits.</a:t>
          </a:r>
        </a:p>
      </dsp:txBody>
      <dsp:txXfrm>
        <a:off x="383617" y="1269082"/>
        <a:ext cx="2847502" cy="1768010"/>
      </dsp:txXfrm>
    </dsp:sp>
    <dsp:sp modelId="{0E343164-03B1-DD4D-BB0A-5ECDE01EFD75}">
      <dsp:nvSpPr>
        <dsp:cNvPr id="0" name=""/>
        <dsp:cNvSpPr/>
      </dsp:nvSpPr>
      <dsp:spPr>
        <a:xfrm>
          <a:off x="3614737" y="901895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5F441B-4626-6742-8E80-CD5C9A4CAD23}">
      <dsp:nvSpPr>
        <dsp:cNvPr id="0" name=""/>
        <dsp:cNvSpPr/>
      </dsp:nvSpPr>
      <dsp:spPr>
        <a:xfrm>
          <a:off x="3943350" y="1214077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Tariffs protect local industries but may trigger retaliation.</a:t>
          </a:r>
        </a:p>
      </dsp:txBody>
      <dsp:txXfrm>
        <a:off x="3998355" y="1269082"/>
        <a:ext cx="2847502" cy="1768010"/>
      </dsp:txXfrm>
    </dsp:sp>
    <dsp:sp modelId="{1252A6F3-8518-B648-B8DC-0245E3946771}">
      <dsp:nvSpPr>
        <dsp:cNvPr id="0" name=""/>
        <dsp:cNvSpPr/>
      </dsp:nvSpPr>
      <dsp:spPr>
        <a:xfrm>
          <a:off x="7229475" y="901895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390FC8-D804-9544-B7FA-773DCDEE6FE7}">
      <dsp:nvSpPr>
        <dsp:cNvPr id="0" name=""/>
        <dsp:cNvSpPr/>
      </dsp:nvSpPr>
      <dsp:spPr>
        <a:xfrm>
          <a:off x="7558087" y="1214077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Trade policies (FTAs, quotas, subsidies) shape competitiveness.</a:t>
          </a:r>
        </a:p>
      </dsp:txBody>
      <dsp:txXfrm>
        <a:off x="7613092" y="1269082"/>
        <a:ext cx="2847502" cy="176801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2DECB0-B7C1-41A3-B4C0-B67421ECD66A}">
      <dsp:nvSpPr>
        <dsp:cNvPr id="0" name=""/>
        <dsp:cNvSpPr/>
      </dsp:nvSpPr>
      <dsp:spPr>
        <a:xfrm>
          <a:off x="0" y="656"/>
          <a:ext cx="6372366" cy="15368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33C696-F3AA-4796-AD39-9BEEA1B0BC12}">
      <dsp:nvSpPr>
        <dsp:cNvPr id="0" name=""/>
        <dsp:cNvSpPr/>
      </dsp:nvSpPr>
      <dsp:spPr>
        <a:xfrm>
          <a:off x="464885" y="346439"/>
          <a:ext cx="845245" cy="8452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AA6035-8B43-44F7-80F5-A21289742B99}">
      <dsp:nvSpPr>
        <dsp:cNvPr id="0" name=""/>
        <dsp:cNvSpPr/>
      </dsp:nvSpPr>
      <dsp:spPr>
        <a:xfrm>
          <a:off x="1775015" y="656"/>
          <a:ext cx="4597350" cy="1536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646" tIns="162646" rIns="162646" bIns="16264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WTO: Promotes fair trade, resolves disputes, removes barriers.</a:t>
          </a:r>
        </a:p>
      </dsp:txBody>
      <dsp:txXfrm>
        <a:off x="1775015" y="656"/>
        <a:ext cx="4597350" cy="1536810"/>
      </dsp:txXfrm>
    </dsp:sp>
    <dsp:sp modelId="{2AA10B28-1DEC-428E-89FE-9F78C9C78CFF}">
      <dsp:nvSpPr>
        <dsp:cNvPr id="0" name=""/>
        <dsp:cNvSpPr/>
      </dsp:nvSpPr>
      <dsp:spPr>
        <a:xfrm>
          <a:off x="0" y="1921669"/>
          <a:ext cx="6372366" cy="15368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75FD2C-D0F4-4D8E-9193-A3973E85DA7A}">
      <dsp:nvSpPr>
        <dsp:cNvPr id="0" name=""/>
        <dsp:cNvSpPr/>
      </dsp:nvSpPr>
      <dsp:spPr>
        <a:xfrm>
          <a:off x="464885" y="2267451"/>
          <a:ext cx="845245" cy="8452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7ACF53-ACE2-48C8-AB98-72D6A57E04B7}">
      <dsp:nvSpPr>
        <dsp:cNvPr id="0" name=""/>
        <dsp:cNvSpPr/>
      </dsp:nvSpPr>
      <dsp:spPr>
        <a:xfrm>
          <a:off x="1775015" y="1921669"/>
          <a:ext cx="4597350" cy="1536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646" tIns="162646" rIns="162646" bIns="16264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IMF: Monitors trade imbalances, advises on policies, provides financial support.</a:t>
          </a:r>
        </a:p>
      </dsp:txBody>
      <dsp:txXfrm>
        <a:off x="1775015" y="1921669"/>
        <a:ext cx="4597350" cy="1536810"/>
      </dsp:txXfrm>
    </dsp:sp>
    <dsp:sp modelId="{47DF5569-A568-42C0-A011-25A46609F61C}">
      <dsp:nvSpPr>
        <dsp:cNvPr id="0" name=""/>
        <dsp:cNvSpPr/>
      </dsp:nvSpPr>
      <dsp:spPr>
        <a:xfrm>
          <a:off x="0" y="3842682"/>
          <a:ext cx="6372366" cy="15368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E9CF93-FD25-4DE4-A635-684D68EACE39}">
      <dsp:nvSpPr>
        <dsp:cNvPr id="0" name=""/>
        <dsp:cNvSpPr/>
      </dsp:nvSpPr>
      <dsp:spPr>
        <a:xfrm>
          <a:off x="464885" y="4188464"/>
          <a:ext cx="845245" cy="8452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8C5C87-295D-4592-A25A-EFB8EB334CC4}">
      <dsp:nvSpPr>
        <dsp:cNvPr id="0" name=""/>
        <dsp:cNvSpPr/>
      </dsp:nvSpPr>
      <dsp:spPr>
        <a:xfrm>
          <a:off x="1775015" y="3842682"/>
          <a:ext cx="4597350" cy="1536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646" tIns="162646" rIns="162646" bIns="16264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Together, they promote global economic stability.</a:t>
          </a:r>
        </a:p>
      </dsp:txBody>
      <dsp:txXfrm>
        <a:off x="1775015" y="3842682"/>
        <a:ext cx="4597350" cy="15368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28808-26D1-4F4B-96F4-F3082078D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008" y="1122362"/>
            <a:ext cx="8816632" cy="357155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E0C639-B0CD-4365-98A9-C1E5FF6CF4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7008" y="5521960"/>
            <a:ext cx="8816632" cy="94487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80C52-E6BB-4B27-B5D8-2D33B2497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7C649-4A0C-4EF2-8FC1-2BCF0BF9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E03F2-D0FE-49BB-8AEC-E99C4DB2D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4A7CC8F-56A6-423D-B67A-8BA89D3EC911}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5192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743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9F01F-198D-4AAD-B4FB-AD3B44981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200"/>
            <a:ext cx="9438640" cy="4114800"/>
          </a:xfrm>
        </p:spPr>
        <p:txBody>
          <a:bodyPr anchor="t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BCC2B-311B-4FB6-B3A5-26F68055A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5217160"/>
            <a:ext cx="9438640" cy="802640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CB73D-2D6B-4FA6-89A4-DCC89F80E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0C188-FF43-44C1-A005-679168D5F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D1188-DA27-47B2-8176-31193EEC4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367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B5A25-7E99-42A8-8D6D-648EFE203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501DC-62B7-42BD-A941-D34E92719C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79"/>
            <a:ext cx="5181600" cy="4165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65C5C1-4FD4-4958-99A0-BDADECA336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11679"/>
            <a:ext cx="5181600" cy="4165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1B234-5D54-44E5-B41D-B205AAF50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7BCDB-6B96-45D6-B5E9-823A96EB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39C5F-F16F-4AFD-98D1-FA3BB96AF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356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44C1F-0040-4BBF-81A6-FD2E30637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7978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894A7-1DA1-44C1-8ED0-716279430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824035"/>
            <a:ext cx="4997132" cy="681040"/>
          </a:xfrm>
        </p:spPr>
        <p:txBody>
          <a:bodyPr anchor="b"/>
          <a:lstStyle>
            <a:lvl1pPr marL="0" indent="0">
              <a:buNone/>
              <a:defRPr sz="2400" b="1" i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AB945-31E2-4B60-9076-CBB8F8594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499713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71B3EA-2E84-4B8B-A104-81BD577424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5080" y="1824035"/>
            <a:ext cx="5000308" cy="681040"/>
          </a:xfrm>
        </p:spPr>
        <p:txBody>
          <a:bodyPr anchor="b"/>
          <a:lstStyle>
            <a:lvl1pPr marL="0" indent="0">
              <a:buNone/>
              <a:defRPr sz="2400" b="1" i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511AB8-302C-476E-B80A-AA739911E3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5080" y="2505075"/>
            <a:ext cx="500030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B47C29-FE34-4E6E-9921-78C54673A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F6B420-A9CE-4BB6-A653-5C3ABC7D6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1DF8FE-1179-4798-B16D-AF1DFA266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973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66F1A-0A68-4048-808F-CD7A9F3B0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9592"/>
            <a:ext cx="10515600" cy="157322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ACB3E6-5365-48F5-8D2A-0B002BA35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7D8EE9-4D97-4B2F-8D38-41CB9EE77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2C5952-0A27-4FAB-A3FD-120037876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766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D08427-909D-4679-9192-BC99557A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8E39A6-1E09-42B5-85B4-7E8B5AB2A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38940-01DD-4C97-8649-E01C3B0ED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649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93B3D-D568-40B4-A73A-1C8EA9ABB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691818" cy="1701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86EB3-917A-43B7-85BB-D00B5D2F0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4798" y="987425"/>
            <a:ext cx="5840589" cy="50323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AC029-3BC1-4637-A7F9-BC786DC26A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372360"/>
            <a:ext cx="3691817" cy="349662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90B948-89C5-4AC5-B7A0-17136F5C5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6C8C5-652F-46CB-BD26-E262B057F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FB50CB-E91F-4B71-81F0-800F2B51A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69B885-FDB8-4C62-A285-A0CDC49A6B0C}"/>
              </a:ext>
            </a:extLst>
          </p:cNvPr>
          <p:cNvCxnSpPr>
            <a:cxnSpLocks/>
          </p:cNvCxnSpPr>
          <p:nvPr/>
        </p:nvCxnSpPr>
        <p:spPr>
          <a:xfrm>
            <a:off x="502320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020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F941E-6445-4840-81AE-104EF7A4F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696652" cy="1701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F8B866-E32B-4AE7-AEF3-6974AE3288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86120" y="838200"/>
            <a:ext cx="5603238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2ABB7A-E157-499A-B224-C2313181F5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367280"/>
            <a:ext cx="3696652" cy="350170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77283-E2B8-405E-BB6E-9F121140E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21F05-EB94-417F-B19B-96FF3D9EC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7C3C7-B6DB-4064-8E66-9FB770C88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E233FA-220A-423F-907E-5F81526A28A0}"/>
              </a:ext>
            </a:extLst>
          </p:cNvPr>
          <p:cNvCxnSpPr>
            <a:cxnSpLocks/>
          </p:cNvCxnSpPr>
          <p:nvPr/>
        </p:nvCxnSpPr>
        <p:spPr>
          <a:xfrm>
            <a:off x="502320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5466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56D52-667C-4E67-9038-A0BDFD8CC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3E72AC-0272-475A-BD25-2AB7AC1DE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FBFF2-9ECB-4CDD-87FA-9DD1F87BF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C12B3-DAF5-4BA7-A3A6-D0284716D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171AE-4A11-4035-A072-9AC4053FF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51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A52E95-2F50-48D3-B00E-4C259644E7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50174" y="838199"/>
            <a:ext cx="2303626" cy="5338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617C9B-4E02-49C8-B6DF-65ED3C9903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38199"/>
            <a:ext cx="7734300" cy="5338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CA10C-AC31-4D80-B78F-08E48CDCB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B5B7-F312-4BC9-A5D3-72E065D1B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2E489-5442-4698-B6E3-3421A97C2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F3A7E1-F157-4338-B7F7-9C0A2D60B7FF}"/>
              </a:ext>
            </a:extLst>
          </p:cNvPr>
          <p:cNvCxnSpPr>
            <a:cxnSpLocks/>
          </p:cNvCxnSpPr>
          <p:nvPr/>
        </p:nvCxnSpPr>
        <p:spPr>
          <a:xfrm>
            <a:off x="881133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8173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6CCBF3A-D7FB-4B97-8FD5-6FFB20CB1E8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951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FA9327B-0F60-46E3-AD80-CE7383856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C18651-8153-5F48-F0B9-408C95781E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1082" y="4660681"/>
            <a:ext cx="9689834" cy="1125050"/>
          </a:xfrm>
        </p:spPr>
        <p:txBody>
          <a:bodyPr anchor="b">
            <a:normAutofit/>
          </a:bodyPr>
          <a:lstStyle/>
          <a:p>
            <a:pPr algn="ctr"/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Trade Imbalances on National Economies: Case Study of USA and China</a:t>
            </a:r>
            <a:endParaRPr lang="en-LB" sz="3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5F85B0-06F4-558C-E00E-E42C31B5C8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8997" y="5866227"/>
            <a:ext cx="8314005" cy="696351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BUSINESS</a:t>
            </a:r>
            <a:b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Gaby Al Halaby</a:t>
            </a:r>
            <a:b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To:</a:t>
            </a:r>
            <a:b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sz="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Rositta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Kassis</a:t>
            </a:r>
            <a:endParaRPr lang="en-LB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 descr="A close-up of a network&#10;&#10;Description automatically generated">
            <a:extLst>
              <a:ext uri="{FF2B5EF4-FFF2-40B4-BE49-F238E27FC236}">
                <a16:creationId xmlns:a16="http://schemas.microsoft.com/office/drawing/2014/main" id="{37F78001-6912-76F0-1EEE-1FC286E9B5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774" b="19499"/>
          <a:stretch/>
        </p:blipFill>
        <p:spPr>
          <a:xfrm>
            <a:off x="20" y="1"/>
            <a:ext cx="12191980" cy="430530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1C99D0-461D-4A91-81EF-CCCD798B3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43053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9343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311CC1D-43CD-4F3D-9C43-B8D364FAC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80E76D-EAEC-DC24-72C1-999849C90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977" y="838200"/>
            <a:ext cx="3098583" cy="5181600"/>
          </a:xfrm>
        </p:spPr>
        <p:txBody>
          <a:bodyPr anchor="t">
            <a:normAutofit/>
          </a:bodyPr>
          <a:lstStyle/>
          <a:p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Trade and Economic Growth</a:t>
            </a:r>
            <a:endParaRPr lang="en-LB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200CA7E-42AB-4F9C-8519-0EBCEC0AF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0970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6D1BBEE-7ABD-23BA-6597-888D9DB497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3422240"/>
              </p:ext>
            </p:extLst>
          </p:nvPr>
        </p:nvGraphicFramePr>
        <p:xfrm>
          <a:off x="4981434" y="792051"/>
          <a:ext cx="6372366" cy="53801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40625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2854FB4-497A-4904-92CC-4C2786A1E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15698E-92F8-675D-3647-D6245ABA7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9"/>
            <a:ext cx="5158739" cy="1635442"/>
          </a:xfrm>
        </p:spPr>
        <p:txBody>
          <a:bodyPr>
            <a:normAutofit/>
          </a:bodyPr>
          <a:lstStyle/>
          <a:p>
            <a:r>
              <a:rPr lang="en-US" sz="370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Trade Balance and Trade Imbalance</a:t>
            </a:r>
            <a:endParaRPr lang="en-LB" sz="3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1C7AB-AEDD-0873-F020-480D2A76E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72370"/>
            <a:ext cx="5053928" cy="350459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Trade Balance: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The difference between a nation's exports and imports of goods and services.</a:t>
            </a:r>
          </a:p>
          <a:p>
            <a:pPr>
              <a:lnSpc>
                <a:spcPct val="100000"/>
              </a:lnSpc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Positive Trade Balance (Surplus):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Exports &gt; Imports → More money coming in.</a:t>
            </a:r>
          </a:p>
          <a:p>
            <a:pPr>
              <a:lnSpc>
                <a:spcPct val="100000"/>
              </a:lnSpc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Negative Trade Balance (Deficit):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Imports &gt; Exports → More money going out.</a:t>
            </a:r>
          </a:p>
          <a:p>
            <a:pPr>
              <a:lnSpc>
                <a:spcPct val="100000"/>
              </a:lnSpc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Persistent imbalances can signal deeper economic problems and impact long-term growth.</a:t>
            </a:r>
          </a:p>
          <a:p>
            <a:pPr>
              <a:lnSpc>
                <a:spcPct val="100000"/>
              </a:lnSpc>
            </a:pPr>
            <a:endParaRPr lang="en-LB" sz="160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F883E84-3640-43A5-9526-442521C03A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4654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phic 15" descr="Handshake">
            <a:extLst>
              <a:ext uri="{FF2B5EF4-FFF2-40B4-BE49-F238E27FC236}">
                <a16:creationId xmlns:a16="http://schemas.microsoft.com/office/drawing/2014/main" id="{5E342C5E-7F36-2051-76D0-C4E666EBDD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1633" y="1762916"/>
            <a:ext cx="3332167" cy="333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863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9E00A88-1935-4C0F-AC5D-6C2322B30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E9827-13E6-4FEC-C479-DAF89B77E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6"/>
            <a:ext cx="10223612" cy="1032232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Studying Trade Imbalances</a:t>
            </a:r>
            <a:endParaRPr lang="en-L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200CA7E-42AB-4F9C-8519-0EBCEC0AF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6026" y="1714500"/>
            <a:ext cx="12175974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6C4A4D4-BBC0-750F-4081-5E5770580F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8519266"/>
              </p:ext>
            </p:extLst>
          </p:nvPr>
        </p:nvGraphicFramePr>
        <p:xfrm>
          <a:off x="838200" y="2361367"/>
          <a:ext cx="10515600" cy="3740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68042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518037-902F-4158-A488-74F1F967E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95CE2E-FE02-ACC7-020E-F55C19321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793" y="315534"/>
            <a:ext cx="9937019" cy="1081822"/>
          </a:xfrm>
        </p:spPr>
        <p:txBody>
          <a:bodyPr>
            <a:norm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 and Structure</a:t>
            </a:r>
            <a:endParaRPr lang="en-L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200CA7E-42AB-4F9C-8519-0EBCEC0AF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6026" y="1714500"/>
            <a:ext cx="12175974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DB479A1A-5A2D-6793-3766-D621CA9CF1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2312862"/>
              </p:ext>
            </p:extLst>
          </p:nvPr>
        </p:nvGraphicFramePr>
        <p:xfrm>
          <a:off x="838200" y="2182969"/>
          <a:ext cx="10515600" cy="3993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0673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B518037-902F-4158-A488-74F1F967E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E0851F-D2C1-8E7F-7877-3F8C4E6A8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793" y="315534"/>
            <a:ext cx="9937019" cy="1081822"/>
          </a:xfrm>
        </p:spPr>
        <p:txBody>
          <a:bodyPr>
            <a:normAutofit/>
          </a:bodyPr>
          <a:lstStyle/>
          <a:p>
            <a:pPr algn="ctr"/>
            <a:r>
              <a:rPr lang="en-US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Mechanisms of Currency, Tariffs, and Trade Policies</a:t>
            </a:r>
            <a:br>
              <a:rPr lang="en-US" sz="3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LB" sz="3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200CA7E-42AB-4F9C-8519-0EBCEC0AF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6026" y="1714500"/>
            <a:ext cx="12175974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FCFC15A8-BF85-7702-49D7-002925AA62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8203564"/>
              </p:ext>
            </p:extLst>
          </p:nvPr>
        </p:nvGraphicFramePr>
        <p:xfrm>
          <a:off x="838200" y="2182969"/>
          <a:ext cx="10515600" cy="3993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8159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311CC1D-43CD-4F3D-9C43-B8D364FAC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C845E8-0841-68F7-A680-1F9AC5D7C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977" y="838200"/>
            <a:ext cx="3098583" cy="5181600"/>
          </a:xfrm>
        </p:spPr>
        <p:txBody>
          <a:bodyPr anchor="t">
            <a:normAutofit/>
          </a:bodyPr>
          <a:lstStyle/>
          <a:p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Role of International Institutions (WTO &amp; IMF)</a:t>
            </a:r>
            <a:endParaRPr lang="en-LB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200CA7E-42AB-4F9C-8519-0EBCEC0AF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0970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51B274-91FA-0307-ED40-38E62BE702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5507785"/>
              </p:ext>
            </p:extLst>
          </p:nvPr>
        </p:nvGraphicFramePr>
        <p:xfrm>
          <a:off x="4981434" y="792051"/>
          <a:ext cx="6372366" cy="53801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72927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ECC17-9B38-498F-BBAC-500B75A1B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CAUSES OF TRADE INBALANCES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74442-299B-436F-8704-60610CD5F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Trade imbalances happen because of deep problems in how economies are built, how people spend and save, and what governments decide to do.</a:t>
            </a:r>
            <a:br>
              <a:rPr lang="en-US" dirty="0"/>
            </a:br>
            <a:r>
              <a:rPr lang="en-US" dirty="0"/>
              <a:t>The U.S. and China have major trade imbalances because of differences in their economies.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16B80D-5C87-4531-B10E-22A949A20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429001"/>
            <a:ext cx="7046259" cy="3429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75315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49A4-ED07-4976-A8C0-041CDD71B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A- structural reasons: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54869-CF8C-459F-8473-918A70D88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1. Wage Differences</a:t>
            </a:r>
            <a:br>
              <a:rPr lang="en-US" dirty="0"/>
            </a:br>
            <a:r>
              <a:rPr lang="en-US" dirty="0"/>
              <a:t>Workers in China earn much less than in the U.S., making Chinese goods cheaper.</a:t>
            </a:r>
          </a:p>
          <a:p>
            <a:endParaRPr lang="en-US" dirty="0"/>
          </a:p>
          <a:p>
            <a:r>
              <a:rPr lang="en-US" b="1" u="sng" dirty="0"/>
              <a:t>2. Industry Specialization</a:t>
            </a:r>
            <a:br>
              <a:rPr lang="en-US" dirty="0"/>
            </a:br>
            <a:r>
              <a:rPr lang="en-US" dirty="0"/>
              <a:t>China makes most of the world's consumer and electronic goods.</a:t>
            </a:r>
            <a:br>
              <a:rPr lang="en-US" dirty="0"/>
            </a:br>
            <a:r>
              <a:rPr lang="en-US" dirty="0"/>
              <a:t>The U.S. focuses more on tech, finance, and services, so it imports a lot from China.</a:t>
            </a:r>
          </a:p>
          <a:p>
            <a:endParaRPr lang="en-US" dirty="0"/>
          </a:p>
          <a:p>
            <a:r>
              <a:rPr lang="en-US" b="1" u="sng" dirty="0"/>
              <a:t>3. Currency Management</a:t>
            </a:r>
            <a:br>
              <a:rPr lang="en-US" dirty="0"/>
            </a:br>
            <a:r>
              <a:rPr lang="en-US" dirty="0"/>
              <a:t>China keeps its money (Yuan) cheap compared to the U.S dollar to make its goods more affordable globally.</a:t>
            </a:r>
          </a:p>
          <a:p>
            <a:endParaRPr lang="en-US" dirty="0"/>
          </a:p>
        </p:txBody>
      </p:sp>
      <p:pic>
        <p:nvPicPr>
          <p:cNvPr id="5" name="Graphic 4" descr="Money with solid fill">
            <a:extLst>
              <a:ext uri="{FF2B5EF4-FFF2-40B4-BE49-F238E27FC236}">
                <a16:creationId xmlns:a16="http://schemas.microsoft.com/office/drawing/2014/main" id="{29E57E15-7255-4900-9491-335CD8CE20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500732">
            <a:off x="4114282" y="1922511"/>
            <a:ext cx="556335" cy="556335"/>
          </a:xfrm>
          <a:prstGeom prst="rect">
            <a:avLst/>
          </a:prstGeom>
        </p:spPr>
      </p:pic>
      <p:pic>
        <p:nvPicPr>
          <p:cNvPr id="7" name="Graphic 6" descr="Factory with solid fill">
            <a:extLst>
              <a:ext uri="{FF2B5EF4-FFF2-40B4-BE49-F238E27FC236}">
                <a16:creationId xmlns:a16="http://schemas.microsoft.com/office/drawing/2014/main" id="{30CE2B01-FA0C-4607-A461-33BAF3DF3F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20910" y="3117476"/>
            <a:ext cx="623047" cy="623047"/>
          </a:xfrm>
          <a:prstGeom prst="rect">
            <a:avLst/>
          </a:prstGeom>
        </p:spPr>
      </p:pic>
      <p:pic>
        <p:nvPicPr>
          <p:cNvPr id="9" name="Graphic 8" descr="Coins with solid fill">
            <a:extLst>
              <a:ext uri="{FF2B5EF4-FFF2-40B4-BE49-F238E27FC236}">
                <a16:creationId xmlns:a16="http://schemas.microsoft.com/office/drawing/2014/main" id="{BC04F191-5CEE-44DD-BCA9-A8BF9B1DF4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22377" y="4871104"/>
            <a:ext cx="521580" cy="52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393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02982-C32D-4FCA-B501-14280435D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84990"/>
            <a:ext cx="11219329" cy="1116811"/>
          </a:xfrm>
        </p:spPr>
        <p:txBody>
          <a:bodyPr>
            <a:normAutofit fontScale="90000"/>
          </a:bodyPr>
          <a:lstStyle/>
          <a:p>
            <a:r>
              <a:rPr lang="en-US" dirty="0"/>
              <a:t>B- Consumption and saving behavior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9845D-A325-406F-B6BF-289BBE337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American Spending Culture</a:t>
            </a:r>
            <a:br>
              <a:rPr lang="en-US" dirty="0"/>
            </a:br>
            <a:r>
              <a:rPr lang="en-US" dirty="0"/>
              <a:t>Americans love to spend.</a:t>
            </a:r>
            <a:br>
              <a:rPr lang="en-US" dirty="0"/>
            </a:br>
            <a:r>
              <a:rPr lang="en-US" dirty="0"/>
              <a:t>They save less and buy many cheap imported goods, mostly from China.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2. Chinese Saving Culture</a:t>
            </a:r>
            <a:br>
              <a:rPr lang="en-US" dirty="0"/>
            </a:br>
            <a:r>
              <a:rPr lang="en-US" dirty="0"/>
              <a:t>Chinese people and the government save a lot.</a:t>
            </a:r>
            <a:br>
              <a:rPr lang="en-US" dirty="0"/>
            </a:br>
            <a:r>
              <a:rPr lang="en-US" dirty="0"/>
              <a:t>They spend less on foreign goods and invest more in building factories and infrastructure.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2016B5-04D0-4A1B-85F1-3895B5770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4940" y="2155097"/>
            <a:ext cx="2017059" cy="13456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3421CF-B4DA-4BBB-BB8B-016401C73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4940" y="3500716"/>
            <a:ext cx="2017059" cy="3361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650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0CD5-1995-47DC-80A8-80438B085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C- policy choices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85461-45D7-4402-8ACD-52D0BC36C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Tariffs and Trade Barriers</a:t>
            </a:r>
            <a:br>
              <a:rPr lang="en-US" dirty="0"/>
            </a:br>
            <a:r>
              <a:rPr lang="en-US" dirty="0"/>
              <a:t>Both countries set tariffs on each other's goods during trade wars, affecting trade flow.</a:t>
            </a:r>
          </a:p>
          <a:p>
            <a:endParaRPr lang="en-US" dirty="0"/>
          </a:p>
          <a:p>
            <a:r>
              <a:rPr lang="en-US" b="1" dirty="0"/>
              <a:t>2. Government Subsidies</a:t>
            </a:r>
            <a:br>
              <a:rPr lang="en-US" dirty="0"/>
            </a:br>
            <a:r>
              <a:rPr lang="en-US" dirty="0"/>
              <a:t>China gives big support to industries like steel and solar energy, making their products cheaper.</a:t>
            </a:r>
            <a:br>
              <a:rPr lang="en-US" dirty="0"/>
            </a:br>
            <a:r>
              <a:rPr lang="en-US" dirty="0"/>
              <a:t>U.S. subsidies are smaller and mostly help farming and clean energy.</a:t>
            </a:r>
          </a:p>
          <a:p>
            <a:endParaRPr lang="en-US" dirty="0"/>
          </a:p>
          <a:p>
            <a:r>
              <a:rPr lang="en-US" b="1" dirty="0"/>
              <a:t>3. Joining the WTO</a:t>
            </a:r>
            <a:br>
              <a:rPr lang="en-US" dirty="0"/>
            </a:br>
            <a:r>
              <a:rPr lang="en-US" dirty="0"/>
              <a:t>When China joined the WTO in 2001, its exports grew fast.</a:t>
            </a:r>
            <a:br>
              <a:rPr lang="en-US" dirty="0"/>
            </a:br>
            <a:r>
              <a:rPr lang="en-US" dirty="0"/>
              <a:t>Some say China did not fully follow trade rules, causing more tensions.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500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A8182-5384-4888-93DC-7560C3792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932458" cy="1116811"/>
          </a:xfrm>
        </p:spPr>
        <p:txBody>
          <a:bodyPr>
            <a:noAutofit/>
          </a:bodyPr>
          <a:lstStyle/>
          <a:p>
            <a:r>
              <a:rPr lang="en-US" sz="3200" dirty="0"/>
              <a:t>D- TECHNOLOGY AND PRODUCTIVITY DIFFERENCES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E4551-36B2-4147-B539-257996DCD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2565"/>
            <a:ext cx="10515600" cy="4033705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b="1" dirty="0"/>
              <a:t>Technology Transfers</a:t>
            </a:r>
            <a:br>
              <a:rPr lang="en-US" dirty="0"/>
            </a:br>
            <a:r>
              <a:rPr lang="en-US" dirty="0"/>
              <a:t>Foreign companies had to share their technology with Chinese companies, helping China improve quickly.</a:t>
            </a:r>
          </a:p>
          <a:p>
            <a:pPr marL="457200" indent="-457200"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2.     Productivity and Innovation</a:t>
            </a:r>
            <a:br>
              <a:rPr lang="en-US" dirty="0"/>
            </a:br>
            <a:r>
              <a:rPr lang="en-US" dirty="0"/>
              <a:t>        The U.S. is highly productive because of better technology and automation.</a:t>
            </a:r>
            <a:br>
              <a:rPr lang="en-US" dirty="0"/>
            </a:br>
            <a:r>
              <a:rPr lang="en-US" dirty="0"/>
              <a:t>China invested heavily to boost its own productivity and reduce costs.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211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EFDA1-4452-401D-A696-E76CACF3E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of Trade Imbalances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7F331B3-DB77-4A24-BEAA-7B38A6077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/>
              <a:t>     </a:t>
            </a:r>
            <a:r>
              <a:rPr lang="en-US" sz="2800" b="1" u="sng" dirty="0"/>
              <a:t>A. On the United States:</a:t>
            </a:r>
          </a:p>
          <a:p>
            <a:r>
              <a:rPr lang="en-US" b="1" dirty="0"/>
              <a:t>1. Loss of Manufacturing Jobs</a:t>
            </a:r>
            <a:br>
              <a:rPr lang="en-US" dirty="0"/>
            </a:br>
            <a:r>
              <a:rPr lang="en-US" dirty="0"/>
              <a:t>Many American factories closed or moved overseas, causing job losses, especially in industrial areas.</a:t>
            </a:r>
          </a:p>
          <a:p>
            <a:endParaRPr lang="en-US" dirty="0"/>
          </a:p>
          <a:p>
            <a:r>
              <a:rPr lang="en-US" b="1" dirty="0"/>
              <a:t>2. Impact on Economy</a:t>
            </a:r>
            <a:br>
              <a:rPr lang="en-US" dirty="0"/>
            </a:br>
            <a:r>
              <a:rPr lang="en-US" dirty="0"/>
              <a:t>The trade deficit hurts long-term growth but keeps prices low.</a:t>
            </a:r>
            <a:br>
              <a:rPr lang="en-US" dirty="0"/>
            </a:br>
            <a:r>
              <a:rPr lang="en-US" dirty="0"/>
              <a:t>Over time, it could weaken the U.S. dollar.</a:t>
            </a:r>
          </a:p>
          <a:p>
            <a:endParaRPr lang="en-US" dirty="0"/>
          </a:p>
          <a:p>
            <a:r>
              <a:rPr lang="en-US" b="1" dirty="0"/>
              <a:t>3. Political Reaction</a:t>
            </a:r>
            <a:br>
              <a:rPr lang="en-US" dirty="0"/>
            </a:br>
            <a:r>
              <a:rPr lang="en-US" dirty="0"/>
              <a:t>Trade deficits led to protectionist policies like tariffs and "Buy American" campaigns.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926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EB430-6526-4BF3-91E6-D99AFCF04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2377"/>
            <a:ext cx="10515600" cy="5763894"/>
          </a:xfrm>
        </p:spPr>
        <p:txBody>
          <a:bodyPr/>
          <a:lstStyle/>
          <a:p>
            <a:r>
              <a:rPr lang="en-US" sz="2800" b="1" u="sng" dirty="0"/>
              <a:t>B. On China:</a:t>
            </a:r>
          </a:p>
          <a:p>
            <a:r>
              <a:rPr lang="en-US" b="1" dirty="0"/>
              <a:t>1. Fast Economic Growth</a:t>
            </a:r>
            <a:br>
              <a:rPr lang="en-US" dirty="0"/>
            </a:br>
            <a:r>
              <a:rPr lang="en-US" dirty="0"/>
              <a:t>Exports helped millions of Chinese people get out of poverty and made China the second-largest economy.</a:t>
            </a:r>
          </a:p>
          <a:p>
            <a:endParaRPr lang="en-US" dirty="0"/>
          </a:p>
          <a:p>
            <a:r>
              <a:rPr lang="en-US" b="1" dirty="0"/>
              <a:t>2. Big Foreign Currency Reserves</a:t>
            </a:r>
            <a:br>
              <a:rPr lang="en-US" dirty="0"/>
            </a:br>
            <a:r>
              <a:rPr lang="en-US" dirty="0"/>
              <a:t>China saved lots of U.S. dollars, giving it financial power worldwide.</a:t>
            </a:r>
          </a:p>
          <a:p>
            <a:endParaRPr lang="en-US" dirty="0"/>
          </a:p>
          <a:p>
            <a:r>
              <a:rPr lang="en-US" b="1" dirty="0"/>
              <a:t>3. Risk of Overdependence</a:t>
            </a:r>
            <a:br>
              <a:rPr lang="en-US" dirty="0"/>
            </a:br>
            <a:r>
              <a:rPr lang="en-US" dirty="0"/>
              <a:t>China depends heavily on exports.</a:t>
            </a:r>
            <a:br>
              <a:rPr lang="en-US" dirty="0"/>
            </a:br>
            <a:r>
              <a:rPr lang="en-US" dirty="0"/>
              <a:t>Global problems (like COVID-19) can hurt its economy, so China now tries to boost spending inside its own country.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759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2854FB4-497A-4904-92CC-4C2786A1E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790A5D-8177-6301-502E-1EC88182C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9"/>
            <a:ext cx="5158739" cy="1635442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 – Electric Vehicles</a:t>
            </a:r>
            <a:endParaRPr lang="en-L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FDC460E-03B9-6122-E14C-012CC6DD4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72370"/>
            <a:ext cx="5053928" cy="3504592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Tesla (USA) vs. BYD (China)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Focus: Production, Export, Trade Policies, Market Share, Impact on Trade Balance</a:t>
            </a:r>
          </a:p>
          <a:p>
            <a:endParaRPr lang="en-LB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F883E84-3640-43A5-9526-442521C03A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4654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Electric Car">
            <a:extLst>
              <a:ext uri="{FF2B5EF4-FFF2-40B4-BE49-F238E27FC236}">
                <a16:creationId xmlns:a16="http://schemas.microsoft.com/office/drawing/2014/main" id="{67791BB0-0F8E-465D-010A-8A5098CAB4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1633" y="1762916"/>
            <a:ext cx="3332167" cy="333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981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8C9F7-A80B-1241-E246-933B43919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749" y="467832"/>
            <a:ext cx="5318051" cy="185006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and Export Volumes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L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ABAB9-3B3A-1567-7085-9CAF6C833F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Tesla: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1.8 million vehicles produced (2023).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Mainly U.S. facilities + Gigafactory Shanghai (China).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Exports to Canada, Europe, Asia.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BYD: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million vehicles produced (2023).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mostly in China.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Aggressive global exports (Latin America, Europe, Southeast Asia).</a:t>
            </a:r>
          </a:p>
          <a:p>
            <a:endParaRPr lang="en-L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CFF7B2-88FE-6A45-1F28-7B2B84E9E9E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Tesla: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Faced 25% tariffs during U.S.-China trade war.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Shanghai Gigafactory to avoid tariffs.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BYD: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Supported by Chinese government incentives.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access to U.S. market due to tariffs.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Expanding in markets with fewer barriers (Latin America, Southeast Asia).</a:t>
            </a:r>
          </a:p>
          <a:p>
            <a:endParaRPr lang="en-L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AEC778-CC70-1B35-131E-618811AFBEA5}"/>
              </a:ext>
            </a:extLst>
          </p:cNvPr>
          <p:cNvSpPr txBox="1"/>
          <p:nvPr/>
        </p:nvSpPr>
        <p:spPr>
          <a:xfrm>
            <a:off x="6019800" y="571089"/>
            <a:ext cx="6096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Trade Policies and Barriers</a:t>
            </a:r>
            <a:endParaRPr lang="en-L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5110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5481B-CE80-4A22-78C7-14195C4C5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1"/>
            <a:ext cx="5257800" cy="125464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Share and Trade Flows</a:t>
            </a:r>
            <a:endParaRPr lang="en-L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A5208-4BC6-A60F-DF92-EBA0F3CB10A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Tesla: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50%+ U.S. EV market share.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10–12% market share in China.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Mostly locally produced for Chinese market.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BYD: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35–40% Chinese EV market share.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Growing exports improving China’s automotive surplus.</a:t>
            </a:r>
          </a:p>
          <a:p>
            <a:endParaRPr lang="en-L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3EE8F6-7F1F-52A4-165D-81E16F3AAA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Tesla: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production in China = No significant boost to U.S. exports.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BYD: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Exports directly from China.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Strengthens China’s trade surplus.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Localization vs. export-led strategies affect trade balances differently.</a:t>
            </a:r>
          </a:p>
          <a:p>
            <a:endParaRPr lang="en-L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8CA643-D72E-3807-144D-ACFDD3FA915A}"/>
              </a:ext>
            </a:extLst>
          </p:cNvPr>
          <p:cNvSpPr txBox="1"/>
          <p:nvPr/>
        </p:nvSpPr>
        <p:spPr>
          <a:xfrm>
            <a:off x="6172200" y="85060"/>
            <a:ext cx="60198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on Bilateral Trade Balance</a:t>
            </a:r>
          </a:p>
          <a:p>
            <a:endParaRPr lang="en-LB" dirty="0"/>
          </a:p>
        </p:txBody>
      </p:sp>
    </p:spTree>
    <p:extLst>
      <p:ext uri="{BB962C8B-B14F-4D97-AF65-F5344CB8AC3E}">
        <p14:creationId xmlns:p14="http://schemas.microsoft.com/office/powerpoint/2010/main" val="2840509315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VTI">
  <a:themeElements>
    <a:clrScheme name="Custom 1">
      <a:dk1>
        <a:sysClr val="windowText" lastClr="000000"/>
      </a:dk1>
      <a:lt1>
        <a:sysClr val="window" lastClr="FFFFFF"/>
      </a:lt1>
      <a:dk2>
        <a:srgbClr val="2E3A3C"/>
      </a:dk2>
      <a:lt2>
        <a:srgbClr val="EDE9E7"/>
      </a:lt2>
      <a:accent1>
        <a:srgbClr val="898470"/>
      </a:accent1>
      <a:accent2>
        <a:srgbClr val="7A8773"/>
      </a:accent2>
      <a:accent3>
        <a:srgbClr val="8C845E"/>
      </a:accent3>
      <a:accent4>
        <a:srgbClr val="9F7E56"/>
      </a:accent4>
      <a:accent5>
        <a:srgbClr val="9B7E69"/>
      </a:accent5>
      <a:accent6>
        <a:srgbClr val="AA7862"/>
      </a:accent6>
      <a:hlink>
        <a:srgbClr val="7A8773"/>
      </a:hlink>
      <a:folHlink>
        <a:srgbClr val="9F7E56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VTI" id="{309F1D27-9968-4F93-BA7C-3666A757FD2E}" vid="{76D8E8FD-8787-4E56-A14A-C28BF58ABEE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1078</Words>
  <Application>Microsoft Office PowerPoint</Application>
  <PresentationFormat>Widescreen</PresentationFormat>
  <Paragraphs>104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Felix Titling</vt:lpstr>
      <vt:lpstr>Goudy Old Style</vt:lpstr>
      <vt:lpstr>Times New Roman</vt:lpstr>
      <vt:lpstr>ArchwayVTI</vt:lpstr>
      <vt:lpstr>Impact of Trade Imbalances on National Economies: Case Study of USA and China</vt:lpstr>
      <vt:lpstr>International Trade and Economic Growth</vt:lpstr>
      <vt:lpstr>Understanding Trade Balance and Trade Imbalance</vt:lpstr>
      <vt:lpstr>Importance of Studying Trade Imbalances</vt:lpstr>
      <vt:lpstr>Project Objectives and Structure</vt:lpstr>
      <vt:lpstr>Mechanisms of Currency, Tariffs, and Trade Policies </vt:lpstr>
      <vt:lpstr>Role of International Institutions (WTO &amp; IMF)</vt:lpstr>
      <vt:lpstr>CAUSES OF TRADE INBALANCES </vt:lpstr>
      <vt:lpstr>A- structural reasons:</vt:lpstr>
      <vt:lpstr>B- Consumption and saving behavior</vt:lpstr>
      <vt:lpstr>C- policy choices</vt:lpstr>
      <vt:lpstr>D- TECHNOLOGY AND PRODUCTIVITY DIFFERENCES</vt:lpstr>
      <vt:lpstr>Impact of Trade Imbalances</vt:lpstr>
      <vt:lpstr>PowerPoint Presentation</vt:lpstr>
      <vt:lpstr>Comparative Analysis – Electric Vehicles</vt:lpstr>
      <vt:lpstr>Production and Export Volumes </vt:lpstr>
      <vt:lpstr>Market Share and Trade Flows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Trade Imbalances on National Economies: Case Study of USA and China</dc:title>
  <dc:creator>NAIM F. HAGE</dc:creator>
  <cp:lastModifiedBy>GABRIEL G. AL HALABY</cp:lastModifiedBy>
  <cp:revision>4</cp:revision>
  <dcterms:created xsi:type="dcterms:W3CDTF">2025-04-27T09:33:50Z</dcterms:created>
  <dcterms:modified xsi:type="dcterms:W3CDTF">2025-12-01T21:12:53Z</dcterms:modified>
</cp:coreProperties>
</file>